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4" r:id="rId5"/>
    <p:sldId id="259" r:id="rId6"/>
    <p:sldId id="261" r:id="rId7"/>
    <p:sldId id="277" r:id="rId8"/>
    <p:sldId id="263" r:id="rId9"/>
    <p:sldId id="265" r:id="rId10"/>
    <p:sldId id="266" r:id="rId11"/>
    <p:sldId id="267" r:id="rId12"/>
    <p:sldId id="268" r:id="rId13"/>
    <p:sldId id="269" r:id="rId14"/>
    <p:sldId id="270" r:id="rId15"/>
    <p:sldId id="271" r:id="rId16"/>
    <p:sldId id="279" r:id="rId17"/>
    <p:sldId id="280" r:id="rId18"/>
    <p:sldId id="272" r:id="rId19"/>
    <p:sldId id="274" r:id="rId20"/>
    <p:sldId id="275" r:id="rId21"/>
    <p:sldId id="278" r:id="rId22"/>
    <p:sldId id="276" r:id="rId23"/>
  </p:sldIdLst>
  <p:sldSz cx="10083800" cy="7556500"/>
  <p:notesSz cx="100838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p:cViewPr varScale="1">
        <p:scale>
          <a:sx n="58" d="100"/>
          <a:sy n="58" d="100"/>
        </p:scale>
        <p:origin x="738"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5808" y="2342515"/>
            <a:ext cx="8565833" cy="1586865"/>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511617" y="4231640"/>
            <a:ext cx="7054215" cy="1889125"/>
          </a:xfrm>
          <a:prstGeom prst="rect">
            <a:avLst/>
          </a:prstGeom>
        </p:spPr>
        <p:txBody>
          <a:bodyPr wrap="square" lIns="0" tIns="0" rIns="0" bIns="0">
            <a:spAutoFit/>
          </a:bodyPr>
          <a:lstStyle>
            <a:lvl1pPr>
              <a:defRPr sz="22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3872" y="1737995"/>
            <a:ext cx="4383691"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9886" y="1737995"/>
            <a:ext cx="4383691"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422609"/>
            <a:ext cx="495261" cy="3130209"/>
          </a:xfrm>
          <a:prstGeom prst="rect">
            <a:avLst/>
          </a:prstGeom>
        </p:spPr>
      </p:pic>
      <p:pic>
        <p:nvPicPr>
          <p:cNvPr id="17" name="bg object 17"/>
          <p:cNvPicPr/>
          <p:nvPr/>
        </p:nvPicPr>
        <p:blipFill>
          <a:blip r:embed="rId3" cstate="print"/>
          <a:stretch>
            <a:fillRect/>
          </a:stretch>
        </p:blipFill>
        <p:spPr>
          <a:xfrm>
            <a:off x="5585860" y="0"/>
            <a:ext cx="4491589" cy="7553324"/>
          </a:xfrm>
          <a:prstGeom prst="rect">
            <a:avLst/>
          </a:prstGeom>
        </p:spPr>
      </p:pic>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4422609"/>
            <a:ext cx="495261" cy="3130209"/>
          </a:xfrm>
          <a:prstGeom prst="rect">
            <a:avLst/>
          </a:prstGeom>
        </p:spPr>
      </p:pic>
      <p:sp>
        <p:nvSpPr>
          <p:cNvPr id="2" name="Holder 2"/>
          <p:cNvSpPr>
            <a:spLocks noGrp="1"/>
          </p:cNvSpPr>
          <p:nvPr>
            <p:ph type="title"/>
          </p:nvPr>
        </p:nvSpPr>
        <p:spPr>
          <a:xfrm>
            <a:off x="430964" y="395360"/>
            <a:ext cx="9215520" cy="57404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771753" y="1259770"/>
            <a:ext cx="8516620" cy="3930650"/>
          </a:xfrm>
          <a:prstGeom prst="rect">
            <a:avLst/>
          </a:prstGeom>
        </p:spPr>
        <p:txBody>
          <a:bodyPr wrap="square" lIns="0" tIns="0" rIns="0" bIns="0">
            <a:spAutoFit/>
          </a:bodyPr>
          <a:lstStyle>
            <a:lvl1pPr>
              <a:defRPr sz="22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26333" y="7027545"/>
            <a:ext cx="3224784"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3872" y="7027545"/>
            <a:ext cx="2317813"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4/28/2026</a:t>
            </a:fld>
            <a:endParaRPr lang="en-US"/>
          </a:p>
        </p:txBody>
      </p:sp>
      <p:sp>
        <p:nvSpPr>
          <p:cNvPr id="6" name="Holder 6"/>
          <p:cNvSpPr>
            <a:spLocks noGrp="1"/>
          </p:cNvSpPr>
          <p:nvPr>
            <p:ph type="sldNum" sz="quarter" idx="7"/>
          </p:nvPr>
        </p:nvSpPr>
        <p:spPr>
          <a:xfrm>
            <a:off x="7255764" y="7027545"/>
            <a:ext cx="2317813" cy="37782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researchgate.net/publication/375153752_Prediction_of_Stock_Price_Using_Machine_Learning_Techniques"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www.researchgate.net/publication/343339583_Deep_Learning_for_Stock_Market_Prediction" TargetMode="External"/><Relationship Id="rId5" Type="http://schemas.openxmlformats.org/officeDocument/2006/relationships/hyperlink" Target="https://www.researchgate.net/publication/370219595_Stock_Price_Prediction_using_LSTM_Model" TargetMode="External"/><Relationship Id="rId4" Type="http://schemas.openxmlformats.org/officeDocument/2006/relationships/hyperlink" Target="https://www.researchgate.net/publication/370759199_Prediction_of_Stock_Prices_Based_on_the_LSTM_Model" TargetMode="External"/></Relationships>
</file>

<file path=ppt/slides/_rels/slide21.xml.rels><?xml version="1.0" encoding="UTF-8" standalone="yes"?>
<Relationships xmlns="http://schemas.openxmlformats.org/package/2006/relationships"><Relationship Id="rId2" Type="http://schemas.openxmlformats.org/officeDocument/2006/relationships/hyperlink" Target="https://arxiv.org/abs/2308.04419"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422609"/>
            <a:ext cx="495261" cy="3130209"/>
          </a:xfrm>
          <a:prstGeom prst="rect">
            <a:avLst/>
          </a:prstGeom>
        </p:spPr>
      </p:pic>
      <p:pic>
        <p:nvPicPr>
          <p:cNvPr id="3" name="object 3"/>
          <p:cNvPicPr/>
          <p:nvPr/>
        </p:nvPicPr>
        <p:blipFill>
          <a:blip r:embed="rId3" cstate="print"/>
          <a:stretch>
            <a:fillRect/>
          </a:stretch>
        </p:blipFill>
        <p:spPr>
          <a:xfrm>
            <a:off x="0" y="0"/>
            <a:ext cx="10077450" cy="7553324"/>
          </a:xfrm>
          <a:prstGeom prst="rect">
            <a:avLst/>
          </a:prstGeom>
        </p:spPr>
      </p:pic>
      <p:pic>
        <p:nvPicPr>
          <p:cNvPr id="4" name="object 4"/>
          <p:cNvPicPr/>
          <p:nvPr/>
        </p:nvPicPr>
        <p:blipFill>
          <a:blip r:embed="rId4" cstate="print"/>
          <a:stretch>
            <a:fillRect/>
          </a:stretch>
        </p:blipFill>
        <p:spPr>
          <a:xfrm>
            <a:off x="1079201" y="145761"/>
            <a:ext cx="7683106" cy="1570986"/>
          </a:xfrm>
          <a:prstGeom prst="rect">
            <a:avLst/>
          </a:prstGeom>
        </p:spPr>
      </p:pic>
      <p:sp>
        <p:nvSpPr>
          <p:cNvPr id="5" name="object 5"/>
          <p:cNvSpPr txBox="1">
            <a:spLocks noGrp="1"/>
          </p:cNvSpPr>
          <p:nvPr>
            <p:ph type="title"/>
          </p:nvPr>
        </p:nvSpPr>
        <p:spPr>
          <a:xfrm>
            <a:off x="2312406" y="2377131"/>
            <a:ext cx="5565775" cy="543560"/>
          </a:xfrm>
          <a:prstGeom prst="rect">
            <a:avLst/>
          </a:prstGeom>
        </p:spPr>
        <p:txBody>
          <a:bodyPr vert="horz" wrap="square" lIns="0" tIns="12065" rIns="0" bIns="0" rtlCol="0">
            <a:spAutoFit/>
          </a:bodyPr>
          <a:lstStyle/>
          <a:p>
            <a:pPr marL="12700">
              <a:lnSpc>
                <a:spcPct val="100000"/>
              </a:lnSpc>
              <a:spcBef>
                <a:spcPts val="95"/>
              </a:spcBef>
            </a:pPr>
            <a:r>
              <a:rPr lang="en-US" sz="3400" spc="-50" dirty="0"/>
              <a:t>Stocks</a:t>
            </a:r>
            <a:r>
              <a:rPr sz="3400" spc="-155" dirty="0"/>
              <a:t> </a:t>
            </a:r>
            <a:r>
              <a:rPr sz="3400" spc="-25" dirty="0"/>
              <a:t>Analytics</a:t>
            </a:r>
            <a:r>
              <a:rPr sz="3400" spc="-150" dirty="0"/>
              <a:t> </a:t>
            </a:r>
            <a:r>
              <a:rPr sz="3400" spc="-45" dirty="0"/>
              <a:t>Dashboard</a:t>
            </a:r>
            <a:endParaRPr sz="3400" dirty="0"/>
          </a:p>
        </p:txBody>
      </p:sp>
      <p:sp>
        <p:nvSpPr>
          <p:cNvPr id="6" name="object 6"/>
          <p:cNvSpPr txBox="1"/>
          <p:nvPr/>
        </p:nvSpPr>
        <p:spPr>
          <a:xfrm>
            <a:off x="2871553" y="3282006"/>
            <a:ext cx="4448175" cy="1652270"/>
          </a:xfrm>
          <a:prstGeom prst="rect">
            <a:avLst/>
          </a:prstGeom>
        </p:spPr>
        <p:txBody>
          <a:bodyPr vert="horz" wrap="square" lIns="0" tIns="47625" rIns="0" bIns="0" rtlCol="0">
            <a:spAutoFit/>
          </a:bodyPr>
          <a:lstStyle/>
          <a:p>
            <a:pPr marL="12065" marR="5080" algn="ctr">
              <a:lnSpc>
                <a:spcPts val="3150"/>
              </a:lnSpc>
              <a:spcBef>
                <a:spcPts val="375"/>
              </a:spcBef>
            </a:pPr>
            <a:r>
              <a:rPr sz="2800" b="1" spc="-50" dirty="0">
                <a:latin typeface="Times New Roman"/>
                <a:cs typeface="Times New Roman"/>
              </a:rPr>
              <a:t>Janhavi</a:t>
            </a:r>
            <a:r>
              <a:rPr sz="2800" b="1" spc="-65" dirty="0">
                <a:latin typeface="Times New Roman"/>
                <a:cs typeface="Times New Roman"/>
              </a:rPr>
              <a:t> </a:t>
            </a:r>
            <a:r>
              <a:rPr sz="2800" b="1" spc="-105" dirty="0">
                <a:latin typeface="Times New Roman"/>
                <a:cs typeface="Times New Roman"/>
              </a:rPr>
              <a:t>verma</a:t>
            </a:r>
            <a:r>
              <a:rPr sz="2800" b="1" spc="-65" dirty="0">
                <a:latin typeface="Times New Roman"/>
                <a:cs typeface="Times New Roman"/>
              </a:rPr>
              <a:t> </a:t>
            </a:r>
            <a:r>
              <a:rPr sz="2800" b="1" dirty="0">
                <a:latin typeface="Times New Roman"/>
                <a:cs typeface="Times New Roman"/>
              </a:rPr>
              <a:t>-</a:t>
            </a:r>
            <a:r>
              <a:rPr sz="2800" b="1" spc="-65" dirty="0">
                <a:latin typeface="Times New Roman"/>
                <a:cs typeface="Times New Roman"/>
              </a:rPr>
              <a:t> </a:t>
            </a:r>
            <a:r>
              <a:rPr sz="2800" b="1" spc="-10" dirty="0">
                <a:latin typeface="Times New Roman"/>
                <a:cs typeface="Times New Roman"/>
              </a:rPr>
              <a:t>23107125 </a:t>
            </a:r>
            <a:r>
              <a:rPr sz="2800" b="1" dirty="0">
                <a:latin typeface="Times New Roman"/>
                <a:cs typeface="Times New Roman"/>
              </a:rPr>
              <a:t>Laxmi</a:t>
            </a:r>
            <a:r>
              <a:rPr sz="2800" b="1" spc="-45" dirty="0">
                <a:latin typeface="Times New Roman"/>
                <a:cs typeface="Times New Roman"/>
              </a:rPr>
              <a:t> </a:t>
            </a:r>
            <a:r>
              <a:rPr sz="2800" b="1" spc="-105" dirty="0">
                <a:latin typeface="Times New Roman"/>
                <a:cs typeface="Times New Roman"/>
              </a:rPr>
              <a:t>Choudhary</a:t>
            </a:r>
            <a:r>
              <a:rPr sz="2800" b="1" spc="-45" dirty="0">
                <a:latin typeface="Times New Roman"/>
                <a:cs typeface="Times New Roman"/>
              </a:rPr>
              <a:t> </a:t>
            </a:r>
            <a:r>
              <a:rPr sz="2800" b="1" dirty="0">
                <a:latin typeface="Times New Roman"/>
                <a:cs typeface="Times New Roman"/>
              </a:rPr>
              <a:t>-</a:t>
            </a:r>
            <a:r>
              <a:rPr sz="2800" b="1" spc="-45" dirty="0">
                <a:latin typeface="Times New Roman"/>
                <a:cs typeface="Times New Roman"/>
              </a:rPr>
              <a:t> </a:t>
            </a:r>
            <a:r>
              <a:rPr sz="2800" b="1" spc="-10" dirty="0">
                <a:latin typeface="Times New Roman"/>
                <a:cs typeface="Times New Roman"/>
              </a:rPr>
              <a:t>23107140 </a:t>
            </a:r>
            <a:r>
              <a:rPr sz="2800" b="1" spc="-25" dirty="0">
                <a:latin typeface="Times New Roman"/>
                <a:cs typeface="Times New Roman"/>
              </a:rPr>
              <a:t>Sneha</a:t>
            </a:r>
            <a:r>
              <a:rPr sz="2800" b="1" spc="-90" dirty="0">
                <a:latin typeface="Times New Roman"/>
                <a:cs typeface="Times New Roman"/>
              </a:rPr>
              <a:t> </a:t>
            </a:r>
            <a:r>
              <a:rPr sz="2800" b="1" spc="-70" dirty="0">
                <a:latin typeface="Times New Roman"/>
                <a:cs typeface="Times New Roman"/>
              </a:rPr>
              <a:t>raut</a:t>
            </a:r>
            <a:r>
              <a:rPr sz="2800" b="1" spc="-85" dirty="0">
                <a:latin typeface="Times New Roman"/>
                <a:cs typeface="Times New Roman"/>
              </a:rPr>
              <a:t> </a:t>
            </a:r>
            <a:r>
              <a:rPr sz="2800" b="1" dirty="0">
                <a:latin typeface="Times New Roman"/>
                <a:cs typeface="Times New Roman"/>
              </a:rPr>
              <a:t>-</a:t>
            </a:r>
            <a:r>
              <a:rPr sz="2800" b="1" spc="-85" dirty="0">
                <a:latin typeface="Times New Roman"/>
                <a:cs typeface="Times New Roman"/>
              </a:rPr>
              <a:t> </a:t>
            </a:r>
            <a:r>
              <a:rPr sz="2800" b="1" spc="-10" dirty="0">
                <a:latin typeface="Times New Roman"/>
                <a:cs typeface="Times New Roman"/>
              </a:rPr>
              <a:t>23107033</a:t>
            </a:r>
            <a:endParaRPr sz="2800">
              <a:latin typeface="Times New Roman"/>
              <a:cs typeface="Times New Roman"/>
            </a:endParaRPr>
          </a:p>
          <a:p>
            <a:pPr algn="ctr">
              <a:lnSpc>
                <a:spcPts val="3080"/>
              </a:lnSpc>
            </a:pPr>
            <a:r>
              <a:rPr sz="2800" b="1" spc="-40" dirty="0">
                <a:latin typeface="Times New Roman"/>
                <a:cs typeface="Times New Roman"/>
              </a:rPr>
              <a:t>Raj</a:t>
            </a:r>
            <a:r>
              <a:rPr sz="2800" b="1" spc="-80" dirty="0">
                <a:latin typeface="Times New Roman"/>
                <a:cs typeface="Times New Roman"/>
              </a:rPr>
              <a:t> </a:t>
            </a:r>
            <a:r>
              <a:rPr sz="2800" b="1" spc="-70" dirty="0">
                <a:latin typeface="Times New Roman"/>
                <a:cs typeface="Times New Roman"/>
              </a:rPr>
              <a:t>raut</a:t>
            </a:r>
            <a:r>
              <a:rPr sz="2800" b="1" spc="-75" dirty="0">
                <a:latin typeface="Times New Roman"/>
                <a:cs typeface="Times New Roman"/>
              </a:rPr>
              <a:t> </a:t>
            </a:r>
            <a:r>
              <a:rPr sz="2800" b="1" dirty="0">
                <a:latin typeface="Times New Roman"/>
                <a:cs typeface="Times New Roman"/>
              </a:rPr>
              <a:t>-</a:t>
            </a:r>
            <a:r>
              <a:rPr sz="2800" b="1" spc="-75" dirty="0">
                <a:latin typeface="Times New Roman"/>
                <a:cs typeface="Times New Roman"/>
              </a:rPr>
              <a:t> </a:t>
            </a:r>
            <a:r>
              <a:rPr sz="2800" b="1" spc="-10" dirty="0">
                <a:latin typeface="Times New Roman"/>
                <a:cs typeface="Times New Roman"/>
              </a:rPr>
              <a:t>24207022</a:t>
            </a:r>
            <a:endParaRPr sz="2800">
              <a:latin typeface="Times New Roman"/>
              <a:cs typeface="Times New Roman"/>
            </a:endParaRPr>
          </a:p>
        </p:txBody>
      </p:sp>
      <p:sp>
        <p:nvSpPr>
          <p:cNvPr id="7" name="object 7"/>
          <p:cNvSpPr txBox="1"/>
          <p:nvPr/>
        </p:nvSpPr>
        <p:spPr>
          <a:xfrm>
            <a:off x="3628545" y="6447435"/>
            <a:ext cx="2680335" cy="933450"/>
          </a:xfrm>
          <a:prstGeom prst="rect">
            <a:avLst/>
          </a:prstGeom>
        </p:spPr>
        <p:txBody>
          <a:bodyPr vert="horz" wrap="square" lIns="0" tIns="12700" rIns="0" bIns="0" rtlCol="0">
            <a:spAutoFit/>
          </a:bodyPr>
          <a:lstStyle/>
          <a:p>
            <a:pPr marL="12700" marR="5080" indent="100330">
              <a:lnSpc>
                <a:spcPct val="106300"/>
              </a:lnSpc>
              <a:spcBef>
                <a:spcPts val="100"/>
              </a:spcBef>
            </a:pPr>
            <a:r>
              <a:rPr sz="2800" b="1" dirty="0">
                <a:latin typeface="Arial"/>
                <a:cs typeface="Arial"/>
              </a:rPr>
              <a:t>Project</a:t>
            </a:r>
            <a:r>
              <a:rPr sz="2800" b="1" spc="-95" dirty="0">
                <a:latin typeface="Arial"/>
                <a:cs typeface="Arial"/>
              </a:rPr>
              <a:t> </a:t>
            </a:r>
            <a:r>
              <a:rPr sz="2800" b="1" spc="-10" dirty="0">
                <a:latin typeface="Arial"/>
                <a:cs typeface="Arial"/>
              </a:rPr>
              <a:t>Guide </a:t>
            </a:r>
            <a:r>
              <a:rPr sz="2800" b="1" dirty="0">
                <a:latin typeface="Arial"/>
                <a:cs typeface="Arial"/>
              </a:rPr>
              <a:t>Ms.Hardiki</a:t>
            </a:r>
            <a:r>
              <a:rPr sz="2800" b="1" spc="-85" dirty="0">
                <a:latin typeface="Arial"/>
                <a:cs typeface="Arial"/>
              </a:rPr>
              <a:t> </a:t>
            </a:r>
            <a:r>
              <a:rPr sz="2800" b="1" spc="-20" dirty="0">
                <a:latin typeface="Arial"/>
                <a:cs typeface="Arial"/>
              </a:rPr>
              <a:t>Patil</a:t>
            </a:r>
            <a:endParaRPr sz="28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pic>
        <p:nvPicPr>
          <p:cNvPr id="3" name="object 3"/>
          <p:cNvPicPr/>
          <p:nvPr/>
        </p:nvPicPr>
        <p:blipFill>
          <a:blip r:embed="rId3" cstate="print"/>
          <a:stretch>
            <a:fillRect/>
          </a:stretch>
        </p:blipFill>
        <p:spPr>
          <a:xfrm>
            <a:off x="857316" y="1819960"/>
            <a:ext cx="85721" cy="85594"/>
          </a:xfrm>
          <a:prstGeom prst="rect">
            <a:avLst/>
          </a:prstGeom>
        </p:spPr>
      </p:pic>
      <p:pic>
        <p:nvPicPr>
          <p:cNvPr id="4" name="object 4"/>
          <p:cNvPicPr/>
          <p:nvPr/>
        </p:nvPicPr>
        <p:blipFill>
          <a:blip r:embed="rId3" cstate="print"/>
          <a:stretch>
            <a:fillRect/>
          </a:stretch>
        </p:blipFill>
        <p:spPr>
          <a:xfrm>
            <a:off x="857316" y="2457878"/>
            <a:ext cx="85721" cy="85594"/>
          </a:xfrm>
          <a:prstGeom prst="rect">
            <a:avLst/>
          </a:prstGeom>
        </p:spPr>
      </p:pic>
      <p:pic>
        <p:nvPicPr>
          <p:cNvPr id="5" name="object 5"/>
          <p:cNvPicPr/>
          <p:nvPr/>
        </p:nvPicPr>
        <p:blipFill>
          <a:blip r:embed="rId3" cstate="print"/>
          <a:stretch>
            <a:fillRect/>
          </a:stretch>
        </p:blipFill>
        <p:spPr>
          <a:xfrm>
            <a:off x="857316" y="3095786"/>
            <a:ext cx="85721" cy="85594"/>
          </a:xfrm>
          <a:prstGeom prst="rect">
            <a:avLst/>
          </a:prstGeom>
        </p:spPr>
      </p:pic>
      <p:pic>
        <p:nvPicPr>
          <p:cNvPr id="6" name="object 6"/>
          <p:cNvPicPr/>
          <p:nvPr/>
        </p:nvPicPr>
        <p:blipFill>
          <a:blip r:embed="rId4" cstate="print"/>
          <a:stretch>
            <a:fillRect/>
          </a:stretch>
        </p:blipFill>
        <p:spPr>
          <a:xfrm>
            <a:off x="857316" y="3733704"/>
            <a:ext cx="85721" cy="85594"/>
          </a:xfrm>
          <a:prstGeom prst="rect">
            <a:avLst/>
          </a:prstGeom>
        </p:spPr>
      </p:pic>
      <p:pic>
        <p:nvPicPr>
          <p:cNvPr id="7" name="object 7"/>
          <p:cNvPicPr/>
          <p:nvPr/>
        </p:nvPicPr>
        <p:blipFill>
          <a:blip r:embed="rId4" cstate="print"/>
          <a:stretch>
            <a:fillRect/>
          </a:stretch>
        </p:blipFill>
        <p:spPr>
          <a:xfrm>
            <a:off x="857316" y="4371622"/>
            <a:ext cx="85721" cy="85594"/>
          </a:xfrm>
          <a:prstGeom prst="rect">
            <a:avLst/>
          </a:prstGeom>
        </p:spPr>
      </p:pic>
      <p:pic>
        <p:nvPicPr>
          <p:cNvPr id="8" name="object 8"/>
          <p:cNvPicPr/>
          <p:nvPr/>
        </p:nvPicPr>
        <p:blipFill>
          <a:blip r:embed="rId5" cstate="print"/>
          <a:stretch>
            <a:fillRect/>
          </a:stretch>
        </p:blipFill>
        <p:spPr>
          <a:xfrm>
            <a:off x="857316" y="5009539"/>
            <a:ext cx="85721" cy="85594"/>
          </a:xfrm>
          <a:prstGeom prst="rect">
            <a:avLst/>
          </a:prstGeom>
        </p:spPr>
      </p:pic>
      <p:pic>
        <p:nvPicPr>
          <p:cNvPr id="9" name="object 9"/>
          <p:cNvPicPr/>
          <p:nvPr/>
        </p:nvPicPr>
        <p:blipFill>
          <a:blip r:embed="rId6" cstate="print"/>
          <a:stretch>
            <a:fillRect/>
          </a:stretch>
        </p:blipFill>
        <p:spPr>
          <a:xfrm>
            <a:off x="857316" y="5647448"/>
            <a:ext cx="85721" cy="85594"/>
          </a:xfrm>
          <a:prstGeom prst="rect">
            <a:avLst/>
          </a:prstGeom>
        </p:spPr>
      </p:pic>
      <p:pic>
        <p:nvPicPr>
          <p:cNvPr id="10" name="object 10"/>
          <p:cNvPicPr/>
          <p:nvPr/>
        </p:nvPicPr>
        <p:blipFill>
          <a:blip r:embed="rId7" cstate="print"/>
          <a:stretch>
            <a:fillRect/>
          </a:stretch>
        </p:blipFill>
        <p:spPr>
          <a:xfrm>
            <a:off x="857316" y="6285366"/>
            <a:ext cx="85721" cy="85594"/>
          </a:xfrm>
          <a:prstGeom prst="rect">
            <a:avLst/>
          </a:prstGeom>
        </p:spPr>
      </p:pic>
      <p:pic>
        <p:nvPicPr>
          <p:cNvPr id="11" name="object 11"/>
          <p:cNvPicPr/>
          <p:nvPr/>
        </p:nvPicPr>
        <p:blipFill>
          <a:blip r:embed="rId7" cstate="print"/>
          <a:stretch>
            <a:fillRect/>
          </a:stretch>
        </p:blipFill>
        <p:spPr>
          <a:xfrm>
            <a:off x="857316" y="6923283"/>
            <a:ext cx="85721" cy="85594"/>
          </a:xfrm>
          <a:prstGeom prst="rect">
            <a:avLst/>
          </a:prstGeom>
        </p:spPr>
      </p:pic>
      <p:sp>
        <p:nvSpPr>
          <p:cNvPr id="12" name="object 12"/>
          <p:cNvSpPr txBox="1">
            <a:spLocks noGrp="1"/>
          </p:cNvSpPr>
          <p:nvPr>
            <p:ph type="title"/>
          </p:nvPr>
        </p:nvSpPr>
        <p:spPr>
          <a:prstGeom prst="rect">
            <a:avLst/>
          </a:prstGeom>
        </p:spPr>
        <p:txBody>
          <a:bodyPr vert="horz" wrap="square" lIns="0" tIns="12065" rIns="0" bIns="0" rtlCol="0">
            <a:spAutoFit/>
          </a:bodyPr>
          <a:lstStyle/>
          <a:p>
            <a:pPr marL="3655060">
              <a:lnSpc>
                <a:spcPct val="100000"/>
              </a:lnSpc>
              <a:spcBef>
                <a:spcPts val="95"/>
              </a:spcBef>
            </a:pPr>
            <a:r>
              <a:rPr spc="-45" dirty="0"/>
              <a:t>Outline</a:t>
            </a:r>
          </a:p>
        </p:txBody>
      </p:sp>
      <p:sp>
        <p:nvSpPr>
          <p:cNvPr id="13" name="object 13"/>
          <p:cNvSpPr txBox="1"/>
          <p:nvPr/>
        </p:nvSpPr>
        <p:spPr>
          <a:xfrm>
            <a:off x="1086961" y="1399779"/>
            <a:ext cx="6035040" cy="5683250"/>
          </a:xfrm>
          <a:prstGeom prst="rect">
            <a:avLst/>
          </a:prstGeom>
        </p:spPr>
        <p:txBody>
          <a:bodyPr vert="horz" wrap="square" lIns="0" tIns="214629" rIns="0" bIns="0" rtlCol="0">
            <a:spAutoFit/>
          </a:bodyPr>
          <a:lstStyle/>
          <a:p>
            <a:pPr marL="12700">
              <a:lnSpc>
                <a:spcPct val="100000"/>
              </a:lnSpc>
              <a:spcBef>
                <a:spcPts val="1689"/>
              </a:spcBef>
            </a:pPr>
            <a:r>
              <a:rPr sz="2800" b="1" spc="-10" dirty="0">
                <a:latin typeface="Times New Roman"/>
                <a:cs typeface="Times New Roman"/>
              </a:rPr>
              <a:t>Introduction</a:t>
            </a:r>
            <a:endParaRPr sz="2800">
              <a:latin typeface="Times New Roman"/>
              <a:cs typeface="Times New Roman"/>
            </a:endParaRPr>
          </a:p>
          <a:p>
            <a:pPr marL="12700" marR="5080">
              <a:lnSpc>
                <a:spcPct val="147300"/>
              </a:lnSpc>
            </a:pPr>
            <a:r>
              <a:rPr sz="2800" b="1" spc="-50" dirty="0">
                <a:latin typeface="Times New Roman"/>
                <a:cs typeface="Times New Roman"/>
              </a:rPr>
              <a:t>Literature</a:t>
            </a:r>
            <a:r>
              <a:rPr sz="2800" b="1" spc="-120" dirty="0">
                <a:latin typeface="Times New Roman"/>
                <a:cs typeface="Times New Roman"/>
              </a:rPr>
              <a:t> </a:t>
            </a:r>
            <a:r>
              <a:rPr sz="2800" b="1" spc="-55" dirty="0">
                <a:latin typeface="Times New Roman"/>
                <a:cs typeface="Times New Roman"/>
              </a:rPr>
              <a:t>Survey</a:t>
            </a:r>
            <a:r>
              <a:rPr sz="2800" b="1" spc="-114" dirty="0">
                <a:latin typeface="Times New Roman"/>
                <a:cs typeface="Times New Roman"/>
              </a:rPr>
              <a:t> </a:t>
            </a:r>
            <a:r>
              <a:rPr sz="2800" b="1" dirty="0">
                <a:latin typeface="Times New Roman"/>
                <a:cs typeface="Times New Roman"/>
              </a:rPr>
              <a:t>of</a:t>
            </a:r>
            <a:r>
              <a:rPr sz="2800" b="1" spc="-120" dirty="0">
                <a:latin typeface="Times New Roman"/>
                <a:cs typeface="Times New Roman"/>
              </a:rPr>
              <a:t> </a:t>
            </a:r>
            <a:r>
              <a:rPr sz="2800" b="1" spc="-20" dirty="0">
                <a:latin typeface="Times New Roman"/>
                <a:cs typeface="Times New Roman"/>
              </a:rPr>
              <a:t>the</a:t>
            </a:r>
            <a:r>
              <a:rPr sz="2800" b="1" spc="-114" dirty="0">
                <a:latin typeface="Times New Roman"/>
                <a:cs typeface="Times New Roman"/>
              </a:rPr>
              <a:t> </a:t>
            </a:r>
            <a:r>
              <a:rPr sz="2800" b="1" dirty="0">
                <a:latin typeface="Times New Roman"/>
                <a:cs typeface="Times New Roman"/>
              </a:rPr>
              <a:t>existing</a:t>
            </a:r>
            <a:r>
              <a:rPr sz="2800" b="1" spc="-120" dirty="0">
                <a:latin typeface="Times New Roman"/>
                <a:cs typeface="Times New Roman"/>
              </a:rPr>
              <a:t> </a:t>
            </a:r>
            <a:r>
              <a:rPr sz="2800" b="1" spc="-10" dirty="0">
                <a:latin typeface="Times New Roman"/>
                <a:cs typeface="Times New Roman"/>
              </a:rPr>
              <a:t>systems </a:t>
            </a:r>
            <a:r>
              <a:rPr sz="2800" b="1" spc="-40" dirty="0">
                <a:latin typeface="Times New Roman"/>
                <a:cs typeface="Times New Roman"/>
              </a:rPr>
              <a:t>Limitations</a:t>
            </a:r>
            <a:r>
              <a:rPr sz="2800" b="1" spc="-114" dirty="0">
                <a:latin typeface="Times New Roman"/>
                <a:cs typeface="Times New Roman"/>
              </a:rPr>
              <a:t> </a:t>
            </a:r>
            <a:r>
              <a:rPr sz="2800" b="1" dirty="0">
                <a:latin typeface="Times New Roman"/>
                <a:cs typeface="Times New Roman"/>
              </a:rPr>
              <a:t>of</a:t>
            </a:r>
            <a:r>
              <a:rPr sz="2800" b="1" spc="-110" dirty="0">
                <a:latin typeface="Times New Roman"/>
                <a:cs typeface="Times New Roman"/>
              </a:rPr>
              <a:t> </a:t>
            </a:r>
            <a:r>
              <a:rPr sz="2800" b="1" spc="-20" dirty="0">
                <a:latin typeface="Times New Roman"/>
                <a:cs typeface="Times New Roman"/>
              </a:rPr>
              <a:t>the</a:t>
            </a:r>
            <a:r>
              <a:rPr sz="2800" b="1" spc="-114" dirty="0">
                <a:latin typeface="Times New Roman"/>
                <a:cs typeface="Times New Roman"/>
              </a:rPr>
              <a:t> </a:t>
            </a:r>
            <a:r>
              <a:rPr sz="2800" b="1" dirty="0">
                <a:latin typeface="Times New Roman"/>
                <a:cs typeface="Times New Roman"/>
              </a:rPr>
              <a:t>existing</a:t>
            </a:r>
            <a:r>
              <a:rPr sz="2800" b="1" spc="-110" dirty="0">
                <a:latin typeface="Times New Roman"/>
                <a:cs typeface="Times New Roman"/>
              </a:rPr>
              <a:t> </a:t>
            </a:r>
            <a:r>
              <a:rPr sz="2800" b="1" spc="-10" dirty="0">
                <a:latin typeface="Times New Roman"/>
                <a:cs typeface="Times New Roman"/>
              </a:rPr>
              <a:t>systems </a:t>
            </a:r>
            <a:r>
              <a:rPr sz="2800" b="1" spc="-50" dirty="0">
                <a:latin typeface="Times New Roman"/>
                <a:cs typeface="Times New Roman"/>
              </a:rPr>
              <a:t>Problem</a:t>
            </a:r>
            <a:r>
              <a:rPr sz="2800" b="1" spc="-120" dirty="0">
                <a:latin typeface="Times New Roman"/>
                <a:cs typeface="Times New Roman"/>
              </a:rPr>
              <a:t> </a:t>
            </a:r>
            <a:r>
              <a:rPr sz="2800" b="1" spc="-10" dirty="0">
                <a:latin typeface="Times New Roman"/>
                <a:cs typeface="Times New Roman"/>
              </a:rPr>
              <a:t>statement</a:t>
            </a:r>
            <a:endParaRPr sz="2800">
              <a:latin typeface="Times New Roman"/>
              <a:cs typeface="Times New Roman"/>
            </a:endParaRPr>
          </a:p>
          <a:p>
            <a:pPr marL="12700">
              <a:lnSpc>
                <a:spcPct val="100000"/>
              </a:lnSpc>
              <a:spcBef>
                <a:spcPts val="1590"/>
              </a:spcBef>
            </a:pPr>
            <a:r>
              <a:rPr sz="2800" b="1" dirty="0">
                <a:latin typeface="Times New Roman"/>
                <a:cs typeface="Times New Roman"/>
              </a:rPr>
              <a:t>System</a:t>
            </a:r>
            <a:r>
              <a:rPr sz="2800" b="1" spc="-140" dirty="0">
                <a:latin typeface="Times New Roman"/>
                <a:cs typeface="Times New Roman"/>
              </a:rPr>
              <a:t> </a:t>
            </a:r>
            <a:r>
              <a:rPr sz="2800" b="1" spc="-10" dirty="0">
                <a:latin typeface="Times New Roman"/>
                <a:cs typeface="Times New Roman"/>
              </a:rPr>
              <a:t>Design</a:t>
            </a:r>
            <a:endParaRPr sz="2800">
              <a:latin typeface="Times New Roman"/>
              <a:cs typeface="Times New Roman"/>
            </a:endParaRPr>
          </a:p>
          <a:p>
            <a:pPr marL="12700" marR="1283970">
              <a:lnSpc>
                <a:spcPct val="147300"/>
              </a:lnSpc>
            </a:pPr>
            <a:r>
              <a:rPr sz="2800" b="1" spc="-40" dirty="0">
                <a:latin typeface="Times New Roman"/>
                <a:cs typeface="Times New Roman"/>
              </a:rPr>
              <a:t>Technologies</a:t>
            </a:r>
            <a:r>
              <a:rPr sz="2800" b="1" spc="-60" dirty="0">
                <a:latin typeface="Times New Roman"/>
                <a:cs typeface="Times New Roman"/>
              </a:rPr>
              <a:t> </a:t>
            </a:r>
            <a:r>
              <a:rPr sz="2800" b="1" spc="-105" dirty="0">
                <a:latin typeface="Times New Roman"/>
                <a:cs typeface="Times New Roman"/>
              </a:rPr>
              <a:t>and</a:t>
            </a:r>
            <a:r>
              <a:rPr sz="2800" b="1" spc="-60" dirty="0">
                <a:latin typeface="Times New Roman"/>
                <a:cs typeface="Times New Roman"/>
              </a:rPr>
              <a:t> </a:t>
            </a:r>
            <a:r>
              <a:rPr sz="2800" b="1" spc="-40" dirty="0">
                <a:latin typeface="Times New Roman"/>
                <a:cs typeface="Times New Roman"/>
              </a:rPr>
              <a:t>methodologies </a:t>
            </a:r>
            <a:r>
              <a:rPr sz="2800" b="1" spc="-10" dirty="0">
                <a:latin typeface="Times New Roman"/>
                <a:cs typeface="Times New Roman"/>
              </a:rPr>
              <a:t>Implementation</a:t>
            </a:r>
            <a:endParaRPr sz="2800">
              <a:latin typeface="Times New Roman"/>
              <a:cs typeface="Times New Roman"/>
            </a:endParaRPr>
          </a:p>
          <a:p>
            <a:pPr marL="12700" marR="4385945">
              <a:lnSpc>
                <a:spcPct val="147300"/>
              </a:lnSpc>
            </a:pPr>
            <a:r>
              <a:rPr sz="2800" b="1" spc="-70" dirty="0">
                <a:latin typeface="Times New Roman"/>
                <a:cs typeface="Times New Roman"/>
              </a:rPr>
              <a:t>Conclusion </a:t>
            </a:r>
            <a:r>
              <a:rPr sz="2800" b="1" spc="-35" dirty="0">
                <a:latin typeface="Times New Roman"/>
                <a:cs typeface="Times New Roman"/>
              </a:rPr>
              <a:t>References</a:t>
            </a:r>
            <a:endParaRPr sz="28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64135" algn="ctr">
              <a:lnSpc>
                <a:spcPct val="100000"/>
              </a:lnSpc>
              <a:spcBef>
                <a:spcPts val="95"/>
              </a:spcBef>
            </a:pPr>
            <a:r>
              <a:rPr spc="-95" dirty="0">
                <a:solidFill>
                  <a:srgbClr val="1C1C24"/>
                </a:solidFill>
              </a:rPr>
              <a:t>Introduction</a:t>
            </a:r>
          </a:p>
        </p:txBody>
      </p:sp>
      <p:sp>
        <p:nvSpPr>
          <p:cNvPr id="8" name="Rectangle 2">
            <a:extLst>
              <a:ext uri="{FF2B5EF4-FFF2-40B4-BE49-F238E27FC236}">
                <a16:creationId xmlns:a16="http://schemas.microsoft.com/office/drawing/2014/main" id="{D778723F-9B21-442B-BF4E-63635067D90D}"/>
              </a:ext>
            </a:extLst>
          </p:cNvPr>
          <p:cNvSpPr>
            <a:spLocks noChangeArrowheads="1"/>
          </p:cNvSpPr>
          <p:nvPr/>
        </p:nvSpPr>
        <p:spPr bwMode="auto">
          <a:xfrm>
            <a:off x="241300" y="1284970"/>
            <a:ext cx="886501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Stock Analytics Dashboard is an interactive system designed to analyze and visualize stock market data in a user-friendly manner.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integrates financial indicators such as Moving Averages, RSI, and MACD to provide insights into market trends and momentum.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also evaluates investment risk using volatility-based metrics.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Additionally, machine learning and deep learning models like Linear Regression and LSTM are used to predict future stock prices.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combination of analytics and prediction helps users make informed investment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3" name="object 3"/>
          <p:cNvSpPr txBox="1">
            <a:spLocks noGrp="1"/>
          </p:cNvSpPr>
          <p:nvPr>
            <p:ph type="title"/>
          </p:nvPr>
        </p:nvSpPr>
        <p:spPr>
          <a:xfrm>
            <a:off x="430964" y="725805"/>
            <a:ext cx="9215520" cy="574040"/>
          </a:xfrm>
          <a:prstGeom prst="rect">
            <a:avLst/>
          </a:prstGeom>
        </p:spPr>
        <p:txBody>
          <a:bodyPr vert="horz" wrap="square" lIns="0" tIns="12065" rIns="0" bIns="0" rtlCol="0">
            <a:spAutoFit/>
          </a:bodyPr>
          <a:lstStyle/>
          <a:p>
            <a:pPr marL="12700" algn="ctr">
              <a:lnSpc>
                <a:spcPct val="100000"/>
              </a:lnSpc>
              <a:spcBef>
                <a:spcPts val="95"/>
              </a:spcBef>
            </a:pPr>
            <a:r>
              <a:rPr spc="-70" dirty="0"/>
              <a:t>Problem</a:t>
            </a:r>
            <a:r>
              <a:rPr spc="-114" dirty="0"/>
              <a:t> </a:t>
            </a:r>
            <a:r>
              <a:rPr spc="-25" dirty="0"/>
              <a:t>Statement</a:t>
            </a:r>
          </a:p>
        </p:txBody>
      </p:sp>
      <p:sp>
        <p:nvSpPr>
          <p:cNvPr id="5" name="object 5"/>
          <p:cNvSpPr txBox="1"/>
          <p:nvPr/>
        </p:nvSpPr>
        <p:spPr>
          <a:xfrm>
            <a:off x="430964" y="2025650"/>
            <a:ext cx="8495030" cy="2429639"/>
          </a:xfrm>
          <a:prstGeom prst="rect">
            <a:avLst/>
          </a:prstGeom>
        </p:spPr>
        <p:txBody>
          <a:bodyPr vert="horz" wrap="square" lIns="0" tIns="12065" rIns="0" bIns="0" rtlCol="0">
            <a:spAutoFit/>
          </a:bodyPr>
          <a:lstStyle/>
          <a:p>
            <a:pPr marL="12700" marR="124460">
              <a:lnSpc>
                <a:spcPct val="113900"/>
              </a:lnSpc>
              <a:spcBef>
                <a:spcPts val="95"/>
              </a:spcBef>
            </a:pPr>
            <a:r>
              <a:rPr lang="en-US" sz="2800" dirty="0">
                <a:latin typeface="Times New Roman" panose="02020603050405020304" pitchFamily="18" charset="0"/>
                <a:cs typeface="Times New Roman" panose="02020603050405020304" pitchFamily="18" charset="0"/>
              </a:rPr>
              <a:t>Stock market data is complex and difficult to analyze. Existing tools lack integrated analysis, visualization, and prediction. This project aims to provide a dashboard that simplifies stock analysis, risk evaluation, and price prediction.</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3" name="object 3"/>
          <p:cNvSpPr txBox="1">
            <a:spLocks noGrp="1"/>
          </p:cNvSpPr>
          <p:nvPr>
            <p:ph type="title"/>
          </p:nvPr>
        </p:nvSpPr>
        <p:spPr>
          <a:xfrm>
            <a:off x="482819" y="395360"/>
            <a:ext cx="2006600" cy="574040"/>
          </a:xfrm>
          <a:prstGeom prst="rect">
            <a:avLst/>
          </a:prstGeom>
        </p:spPr>
        <p:txBody>
          <a:bodyPr vert="horz" wrap="square" lIns="0" tIns="12065" rIns="0" bIns="0" rtlCol="0">
            <a:spAutoFit/>
          </a:bodyPr>
          <a:lstStyle/>
          <a:p>
            <a:pPr marL="12700">
              <a:lnSpc>
                <a:spcPct val="100000"/>
              </a:lnSpc>
              <a:spcBef>
                <a:spcPts val="95"/>
              </a:spcBef>
            </a:pPr>
            <a:r>
              <a:rPr spc="-55" dirty="0"/>
              <a:t>Objectives</a:t>
            </a:r>
          </a:p>
        </p:txBody>
      </p:sp>
      <p:sp>
        <p:nvSpPr>
          <p:cNvPr id="4" name="object 4"/>
          <p:cNvSpPr txBox="1"/>
          <p:nvPr/>
        </p:nvSpPr>
        <p:spPr>
          <a:xfrm>
            <a:off x="482819" y="1720850"/>
            <a:ext cx="8507730" cy="3936783"/>
          </a:xfrm>
          <a:prstGeom prst="rect">
            <a:avLst/>
          </a:prstGeom>
        </p:spPr>
        <p:txBody>
          <a:bodyPr vert="horz" wrap="square" lIns="0" tIns="12700" rIns="0" bIns="0" rtlCol="0">
            <a:spAutoFit/>
          </a:bodyPr>
          <a:lstStyle/>
          <a:p>
            <a:pPr marL="355600" marR="5080" indent="-342900" algn="l">
              <a:lnSpc>
                <a:spcPct val="113900"/>
              </a:lnSpc>
              <a:spcBef>
                <a:spcPts val="100"/>
              </a:spcBef>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develop an interactive stock analytics dashboard</a:t>
            </a:r>
          </a:p>
          <a:p>
            <a:pPr marL="355600" marR="5080" indent="-342900" algn="l">
              <a:lnSpc>
                <a:spcPct val="113900"/>
              </a:lnSpc>
              <a:spcBef>
                <a:spcPts val="100"/>
              </a:spcBef>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analyze stock trends using technical indicators</a:t>
            </a:r>
          </a:p>
          <a:p>
            <a:pPr marL="355600" marR="5080" indent="-342900" algn="l">
              <a:lnSpc>
                <a:spcPct val="113900"/>
              </a:lnSpc>
              <a:spcBef>
                <a:spcPts val="100"/>
              </a:spcBef>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evaluate stock risk using volatility-based metrics</a:t>
            </a:r>
          </a:p>
          <a:p>
            <a:pPr marL="355600" marR="5080" indent="-342900" algn="l">
              <a:lnSpc>
                <a:spcPct val="113900"/>
              </a:lnSpc>
              <a:spcBef>
                <a:spcPts val="100"/>
              </a:spcBef>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predict stock prices using machine learning models</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409288"/>
            <a:ext cx="495260" cy="3141970"/>
          </a:xfrm>
          <a:prstGeom prst="rect">
            <a:avLst/>
          </a:prstGeom>
        </p:spPr>
      </p:pic>
      <p:pic>
        <p:nvPicPr>
          <p:cNvPr id="3" name="object 3"/>
          <p:cNvPicPr/>
          <p:nvPr/>
        </p:nvPicPr>
        <p:blipFill>
          <a:blip r:embed="rId3" cstate="print"/>
          <a:stretch>
            <a:fillRect/>
          </a:stretch>
        </p:blipFill>
        <p:spPr>
          <a:xfrm>
            <a:off x="5505117" y="0"/>
            <a:ext cx="4570138" cy="7553324"/>
          </a:xfrm>
          <a:prstGeom prst="rect">
            <a:avLst/>
          </a:prstGeom>
        </p:spPr>
      </p:pic>
      <p:sp>
        <p:nvSpPr>
          <p:cNvPr id="4" name="object 4"/>
          <p:cNvSpPr txBox="1">
            <a:spLocks noGrp="1"/>
          </p:cNvSpPr>
          <p:nvPr>
            <p:ph type="title"/>
          </p:nvPr>
        </p:nvSpPr>
        <p:spPr>
          <a:xfrm>
            <a:off x="850900" y="90646"/>
            <a:ext cx="7756525" cy="574040"/>
          </a:xfrm>
          <a:prstGeom prst="rect">
            <a:avLst/>
          </a:prstGeom>
        </p:spPr>
        <p:txBody>
          <a:bodyPr vert="horz" wrap="square" lIns="0" tIns="12065" rIns="0" bIns="0" rtlCol="0">
            <a:spAutoFit/>
          </a:bodyPr>
          <a:lstStyle/>
          <a:p>
            <a:pPr marL="12700">
              <a:lnSpc>
                <a:spcPct val="100000"/>
              </a:lnSpc>
              <a:spcBef>
                <a:spcPts val="95"/>
              </a:spcBef>
            </a:pPr>
            <a:r>
              <a:rPr spc="-65" dirty="0"/>
              <a:t>Literature</a:t>
            </a:r>
            <a:r>
              <a:rPr spc="-140" dirty="0"/>
              <a:t> </a:t>
            </a:r>
            <a:r>
              <a:rPr spc="-75" dirty="0"/>
              <a:t>Survey</a:t>
            </a:r>
            <a:r>
              <a:rPr spc="-140" dirty="0"/>
              <a:t> </a:t>
            </a:r>
            <a:r>
              <a:rPr dirty="0"/>
              <a:t>of</a:t>
            </a:r>
            <a:r>
              <a:rPr spc="-135" dirty="0"/>
              <a:t> </a:t>
            </a:r>
            <a:r>
              <a:rPr spc="-30" dirty="0"/>
              <a:t>the</a:t>
            </a:r>
            <a:r>
              <a:rPr spc="-140" dirty="0"/>
              <a:t> </a:t>
            </a:r>
            <a:r>
              <a:rPr dirty="0"/>
              <a:t>existing</a:t>
            </a:r>
            <a:r>
              <a:rPr spc="-140" dirty="0"/>
              <a:t> </a:t>
            </a:r>
            <a:r>
              <a:rPr spc="-10" dirty="0"/>
              <a:t>systems</a:t>
            </a:r>
          </a:p>
        </p:txBody>
      </p:sp>
      <p:sp>
        <p:nvSpPr>
          <p:cNvPr id="12" name="Rectangle 2">
            <a:extLst>
              <a:ext uri="{FF2B5EF4-FFF2-40B4-BE49-F238E27FC236}">
                <a16:creationId xmlns:a16="http://schemas.microsoft.com/office/drawing/2014/main" id="{582A9AAB-E57E-40F4-92B1-A0ED8012EA0F}"/>
              </a:ext>
            </a:extLst>
          </p:cNvPr>
          <p:cNvSpPr>
            <a:spLocks noChangeArrowheads="1"/>
          </p:cNvSpPr>
          <p:nvPr/>
        </p:nvSpPr>
        <p:spPr bwMode="auto">
          <a:xfrm>
            <a:off x="2719388" y="901700"/>
            <a:ext cx="1008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a:extLst>
              <a:ext uri="{FF2B5EF4-FFF2-40B4-BE49-F238E27FC236}">
                <a16:creationId xmlns:a16="http://schemas.microsoft.com/office/drawing/2014/main" id="{DBA8BD61-CCF2-42F9-B0DB-D92C31CCBE79}"/>
              </a:ext>
            </a:extLst>
          </p:cNvPr>
          <p:cNvPicPr>
            <a:picLocks noChangeAspect="1"/>
          </p:cNvPicPr>
          <p:nvPr/>
        </p:nvPicPr>
        <p:blipFill>
          <a:blip r:embed="rId4"/>
          <a:stretch>
            <a:fillRect/>
          </a:stretch>
        </p:blipFill>
        <p:spPr>
          <a:xfrm>
            <a:off x="145726" y="1035050"/>
            <a:ext cx="9656344" cy="6019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C838-3929-47EE-A457-98464F7F1FFD}"/>
              </a:ext>
            </a:extLst>
          </p:cNvPr>
          <p:cNvSpPr>
            <a:spLocks noGrp="1"/>
          </p:cNvSpPr>
          <p:nvPr>
            <p:ph type="title"/>
          </p:nvPr>
        </p:nvSpPr>
        <p:spPr/>
        <p:txBody>
          <a:bodyPr/>
          <a:lstStyle/>
          <a:p>
            <a:pPr algn="ctr"/>
            <a:r>
              <a:rPr lang="en-US" spc="-65" dirty="0"/>
              <a:t>Literature</a:t>
            </a:r>
            <a:r>
              <a:rPr lang="en-US" spc="-140" dirty="0"/>
              <a:t> </a:t>
            </a:r>
            <a:r>
              <a:rPr lang="en-US" spc="-75" dirty="0"/>
              <a:t>Survey</a:t>
            </a:r>
            <a:r>
              <a:rPr lang="en-US" spc="-140" dirty="0"/>
              <a:t> </a:t>
            </a:r>
            <a:r>
              <a:rPr lang="en-US" dirty="0"/>
              <a:t>of</a:t>
            </a:r>
            <a:r>
              <a:rPr lang="en-US" spc="-135" dirty="0"/>
              <a:t> </a:t>
            </a:r>
            <a:r>
              <a:rPr lang="en-US" spc="-30" dirty="0"/>
              <a:t>the</a:t>
            </a:r>
            <a:r>
              <a:rPr lang="en-US" spc="-140" dirty="0"/>
              <a:t> </a:t>
            </a:r>
            <a:r>
              <a:rPr lang="en-US" dirty="0"/>
              <a:t>existing</a:t>
            </a:r>
            <a:r>
              <a:rPr lang="en-US" spc="-140" dirty="0"/>
              <a:t> </a:t>
            </a:r>
            <a:r>
              <a:rPr lang="en-US" spc="-10" dirty="0"/>
              <a:t>systems</a:t>
            </a:r>
            <a:endParaRPr lang="en-IN" dirty="0"/>
          </a:p>
        </p:txBody>
      </p:sp>
      <p:pic>
        <p:nvPicPr>
          <p:cNvPr id="6" name="Picture 5">
            <a:extLst>
              <a:ext uri="{FF2B5EF4-FFF2-40B4-BE49-F238E27FC236}">
                <a16:creationId xmlns:a16="http://schemas.microsoft.com/office/drawing/2014/main" id="{33045794-7133-446D-AFCD-98584448D29D}"/>
              </a:ext>
            </a:extLst>
          </p:cNvPr>
          <p:cNvPicPr>
            <a:picLocks noChangeAspect="1"/>
          </p:cNvPicPr>
          <p:nvPr/>
        </p:nvPicPr>
        <p:blipFill>
          <a:blip r:embed="rId2"/>
          <a:stretch>
            <a:fillRect/>
          </a:stretch>
        </p:blipFill>
        <p:spPr>
          <a:xfrm>
            <a:off x="407643" y="1259770"/>
            <a:ext cx="9343682" cy="4271080"/>
          </a:xfrm>
          <a:prstGeom prst="rect">
            <a:avLst/>
          </a:prstGeom>
        </p:spPr>
      </p:pic>
    </p:spTree>
    <p:extLst>
      <p:ext uri="{BB962C8B-B14F-4D97-AF65-F5344CB8AC3E}">
        <p14:creationId xmlns:p14="http://schemas.microsoft.com/office/powerpoint/2010/main" val="1053140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585860" y="0"/>
            <a:ext cx="4491589" cy="7553324"/>
          </a:xfrm>
          <a:prstGeom prst="rect">
            <a:avLst/>
          </a:prstGeom>
        </p:spPr>
      </p:pic>
      <p:sp>
        <p:nvSpPr>
          <p:cNvPr id="4" name="object 4"/>
          <p:cNvSpPr txBox="1">
            <a:spLocks noGrp="1"/>
          </p:cNvSpPr>
          <p:nvPr>
            <p:ph type="title"/>
          </p:nvPr>
        </p:nvSpPr>
        <p:spPr>
          <a:prstGeom prst="rect">
            <a:avLst/>
          </a:prstGeom>
        </p:spPr>
        <p:txBody>
          <a:bodyPr vert="horz" wrap="square" lIns="0" tIns="12065" rIns="0" bIns="0" rtlCol="0">
            <a:spAutoFit/>
          </a:bodyPr>
          <a:lstStyle/>
          <a:p>
            <a:pPr marL="1357630">
              <a:lnSpc>
                <a:spcPct val="100000"/>
              </a:lnSpc>
              <a:spcBef>
                <a:spcPts val="95"/>
              </a:spcBef>
            </a:pPr>
            <a:r>
              <a:rPr spc="-50" dirty="0"/>
              <a:t>Limitations</a:t>
            </a:r>
            <a:r>
              <a:rPr spc="-114" dirty="0"/>
              <a:t> </a:t>
            </a:r>
            <a:r>
              <a:rPr dirty="0"/>
              <a:t>of</a:t>
            </a:r>
            <a:r>
              <a:rPr spc="-110" dirty="0"/>
              <a:t> </a:t>
            </a:r>
            <a:r>
              <a:rPr spc="-10" dirty="0"/>
              <a:t>existing</a:t>
            </a:r>
            <a:r>
              <a:rPr spc="-110" dirty="0"/>
              <a:t> </a:t>
            </a:r>
            <a:r>
              <a:rPr spc="-10" dirty="0"/>
              <a:t>systems</a:t>
            </a:r>
          </a:p>
        </p:txBody>
      </p:sp>
      <p:sp>
        <p:nvSpPr>
          <p:cNvPr id="7" name="Rectangle 1">
            <a:extLst>
              <a:ext uri="{FF2B5EF4-FFF2-40B4-BE49-F238E27FC236}">
                <a16:creationId xmlns:a16="http://schemas.microsoft.com/office/drawing/2014/main" id="{F604219B-1DEB-40C8-B5A6-F96ABABEC8C7}"/>
              </a:ext>
            </a:extLst>
          </p:cNvPr>
          <p:cNvSpPr>
            <a:spLocks noChangeArrowheads="1"/>
          </p:cNvSpPr>
          <p:nvPr/>
        </p:nvSpPr>
        <p:spPr bwMode="auto">
          <a:xfrm>
            <a:off x="1003300" y="1525769"/>
            <a:ext cx="5468164" cy="3523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only on historical data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Predictions are not 100% accurate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External factors not included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Depends on data quality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deep learning performance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585860" y="0"/>
            <a:ext cx="4491589" cy="7553324"/>
          </a:xfrm>
          <a:prstGeom prst="rect">
            <a:avLst/>
          </a:prstGeom>
        </p:spPr>
      </p:pic>
      <p:sp>
        <p:nvSpPr>
          <p:cNvPr id="4" name="object 4"/>
          <p:cNvSpPr txBox="1">
            <a:spLocks noGrp="1"/>
          </p:cNvSpPr>
          <p:nvPr>
            <p:ph type="title"/>
          </p:nvPr>
        </p:nvSpPr>
        <p:spPr>
          <a:xfrm>
            <a:off x="352859" y="488504"/>
            <a:ext cx="3519170" cy="577215"/>
          </a:xfrm>
          <a:prstGeom prst="rect">
            <a:avLst/>
          </a:prstGeom>
        </p:spPr>
        <p:txBody>
          <a:bodyPr vert="horz" wrap="square" lIns="0" tIns="14604" rIns="0" bIns="0" rtlCol="0">
            <a:spAutoFit/>
          </a:bodyPr>
          <a:lstStyle/>
          <a:p>
            <a:pPr marL="12700">
              <a:lnSpc>
                <a:spcPct val="100000"/>
              </a:lnSpc>
              <a:spcBef>
                <a:spcPts val="114"/>
              </a:spcBef>
            </a:pPr>
            <a:r>
              <a:rPr spc="-40" dirty="0"/>
              <a:t>Proposed</a:t>
            </a:r>
            <a:r>
              <a:rPr spc="-155" dirty="0"/>
              <a:t> </a:t>
            </a:r>
            <a:r>
              <a:rPr spc="-10" dirty="0"/>
              <a:t>Solution</a:t>
            </a:r>
          </a:p>
        </p:txBody>
      </p:sp>
      <p:sp>
        <p:nvSpPr>
          <p:cNvPr id="6" name="object 6"/>
          <p:cNvSpPr txBox="1"/>
          <p:nvPr/>
        </p:nvSpPr>
        <p:spPr>
          <a:xfrm>
            <a:off x="709841" y="1429259"/>
            <a:ext cx="8270875" cy="3445367"/>
          </a:xfrm>
          <a:prstGeom prst="rect">
            <a:avLst/>
          </a:prstGeom>
        </p:spPr>
        <p:txBody>
          <a:bodyPr vert="horz" wrap="square" lIns="0" tIns="11430" rIns="0" bIns="0" rtlCol="0">
            <a:spAutoFit/>
          </a:bodyPr>
          <a:lstStyle/>
          <a:p>
            <a:pPr marL="385445" marR="421005" indent="-342900">
              <a:lnSpc>
                <a:spcPct val="116799"/>
              </a:lnSpc>
              <a:spcBef>
                <a:spcPts val="9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is an interactive Stock Analytics Dashboard that integrates data visualization, financial analysis, and machine learning techniques.</a:t>
            </a:r>
          </a:p>
          <a:p>
            <a:pPr marL="385445" marR="421005" indent="-342900">
              <a:lnSpc>
                <a:spcPct val="116799"/>
              </a:lnSpc>
              <a:spcBef>
                <a:spcPts val="9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allows users to either upload stock datasets or fetch live market data using stock tickers. </a:t>
            </a:r>
          </a:p>
          <a:p>
            <a:pPr marL="385445" marR="421005" indent="-342900">
              <a:lnSpc>
                <a:spcPct val="116799"/>
              </a:lnSpc>
              <a:spcBef>
                <a:spcPts val="9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processes and cleans the data, then applies technical indicators such as Moving Averages, RSI, and MACD to analyze trends and momentum. </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91995" y="517841"/>
            <a:ext cx="2834005" cy="574040"/>
          </a:xfrm>
          <a:prstGeom prst="rect">
            <a:avLst/>
          </a:prstGeom>
        </p:spPr>
        <p:txBody>
          <a:bodyPr vert="horz" wrap="square" lIns="0" tIns="12065" rIns="0" bIns="0" rtlCol="0">
            <a:spAutoFit/>
          </a:bodyPr>
          <a:lstStyle/>
          <a:p>
            <a:pPr marL="12700">
              <a:lnSpc>
                <a:spcPct val="100000"/>
              </a:lnSpc>
              <a:spcBef>
                <a:spcPts val="95"/>
              </a:spcBef>
            </a:pPr>
            <a:r>
              <a:rPr dirty="0"/>
              <a:t>System</a:t>
            </a:r>
            <a:r>
              <a:rPr spc="-200" dirty="0"/>
              <a:t> </a:t>
            </a:r>
            <a:r>
              <a:rPr spc="-10" dirty="0"/>
              <a:t>Design</a:t>
            </a:r>
          </a:p>
        </p:txBody>
      </p:sp>
      <p:pic>
        <p:nvPicPr>
          <p:cNvPr id="4" name="Picture 3">
            <a:extLst>
              <a:ext uri="{FF2B5EF4-FFF2-40B4-BE49-F238E27FC236}">
                <a16:creationId xmlns:a16="http://schemas.microsoft.com/office/drawing/2014/main" id="{7385CBA6-0273-4020-8CB1-9ED24724F64C}"/>
              </a:ext>
            </a:extLst>
          </p:cNvPr>
          <p:cNvPicPr>
            <a:picLocks noChangeAspect="1"/>
          </p:cNvPicPr>
          <p:nvPr/>
        </p:nvPicPr>
        <p:blipFill>
          <a:blip r:embed="rId2"/>
          <a:stretch>
            <a:fillRect/>
          </a:stretch>
        </p:blipFill>
        <p:spPr>
          <a:xfrm>
            <a:off x="2184400" y="1316679"/>
            <a:ext cx="5715000" cy="56943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4" name="object 4"/>
          <p:cNvSpPr txBox="1">
            <a:spLocks noGrp="1"/>
          </p:cNvSpPr>
          <p:nvPr>
            <p:ph type="title"/>
          </p:nvPr>
        </p:nvSpPr>
        <p:spPr>
          <a:xfrm>
            <a:off x="510165" y="402312"/>
            <a:ext cx="5918200" cy="1116965"/>
          </a:xfrm>
          <a:prstGeom prst="rect">
            <a:avLst/>
          </a:prstGeom>
        </p:spPr>
        <p:txBody>
          <a:bodyPr vert="horz" wrap="square" lIns="0" tIns="29209" rIns="0" bIns="0" rtlCol="0">
            <a:spAutoFit/>
          </a:bodyPr>
          <a:lstStyle/>
          <a:p>
            <a:pPr marL="12700" marR="5080">
              <a:lnSpc>
                <a:spcPts val="4280"/>
              </a:lnSpc>
              <a:spcBef>
                <a:spcPts val="229"/>
              </a:spcBef>
            </a:pPr>
            <a:r>
              <a:rPr b="0" spc="229" dirty="0">
                <a:latin typeface="Trebuchet MS"/>
                <a:cs typeface="Trebuchet MS"/>
              </a:rPr>
              <a:t>Sustainable</a:t>
            </a:r>
            <a:r>
              <a:rPr b="0" spc="60" dirty="0">
                <a:latin typeface="Trebuchet MS"/>
                <a:cs typeface="Trebuchet MS"/>
              </a:rPr>
              <a:t> </a:t>
            </a:r>
            <a:r>
              <a:rPr b="0" spc="245" dirty="0">
                <a:latin typeface="Trebuchet MS"/>
                <a:cs typeface="Trebuchet MS"/>
              </a:rPr>
              <a:t>Development </a:t>
            </a:r>
            <a:r>
              <a:rPr b="0" spc="240" dirty="0">
                <a:latin typeface="Trebuchet MS"/>
                <a:cs typeface="Trebuchet MS"/>
              </a:rPr>
              <a:t>Goals</a:t>
            </a:r>
            <a:r>
              <a:rPr b="0" spc="75" dirty="0">
                <a:latin typeface="Trebuchet MS"/>
                <a:cs typeface="Trebuchet MS"/>
              </a:rPr>
              <a:t> </a:t>
            </a:r>
            <a:r>
              <a:rPr b="0" spc="305" dirty="0">
                <a:latin typeface="Trebuchet MS"/>
                <a:cs typeface="Trebuchet MS"/>
              </a:rPr>
              <a:t>(SDG)</a:t>
            </a:r>
            <a:r>
              <a:rPr b="0" spc="75" dirty="0">
                <a:latin typeface="Trebuchet MS"/>
                <a:cs typeface="Trebuchet MS"/>
              </a:rPr>
              <a:t> </a:t>
            </a:r>
            <a:r>
              <a:rPr b="0" spc="300" dirty="0">
                <a:latin typeface="Trebuchet MS"/>
                <a:cs typeface="Trebuchet MS"/>
              </a:rPr>
              <a:t>mapped</a:t>
            </a:r>
          </a:p>
        </p:txBody>
      </p:sp>
      <p:sp>
        <p:nvSpPr>
          <p:cNvPr id="20" name="Rectangle 15">
            <a:extLst>
              <a:ext uri="{FF2B5EF4-FFF2-40B4-BE49-F238E27FC236}">
                <a16:creationId xmlns:a16="http://schemas.microsoft.com/office/drawing/2014/main" id="{90C1F238-DD24-4793-ABB1-9CAF2388238F}"/>
              </a:ext>
            </a:extLst>
          </p:cNvPr>
          <p:cNvSpPr>
            <a:spLocks noChangeArrowheads="1"/>
          </p:cNvSpPr>
          <p:nvPr/>
        </p:nvSpPr>
        <p:spPr bwMode="auto">
          <a:xfrm>
            <a:off x="317500" y="1644650"/>
            <a:ext cx="8991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United Nations SDG 8: Decent Work and Economic Growth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supports informed financial decision-making, helping investors and individuals make better investment choices, which contributes to economic growth and financial stability.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2" name="Rectangle 17">
            <a:extLst>
              <a:ext uri="{FF2B5EF4-FFF2-40B4-BE49-F238E27FC236}">
                <a16:creationId xmlns:a16="http://schemas.microsoft.com/office/drawing/2014/main" id="{206D3AC4-15DA-4E1C-8345-709BBB51C21F}"/>
              </a:ext>
            </a:extLst>
          </p:cNvPr>
          <p:cNvSpPr>
            <a:spLocks noChangeArrowheads="1"/>
          </p:cNvSpPr>
          <p:nvPr/>
        </p:nvSpPr>
        <p:spPr bwMode="auto">
          <a:xfrm>
            <a:off x="317500" y="3352810"/>
            <a:ext cx="8991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United Nations SDG 9: Industry, Innovation and Infrastructure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leverages modern technologies like machine learning and data analytics to build an innovative financial analytics platform.</a:t>
            </a:r>
          </a:p>
        </p:txBody>
      </p:sp>
      <p:sp>
        <p:nvSpPr>
          <p:cNvPr id="23" name="Rectangle 18">
            <a:extLst>
              <a:ext uri="{FF2B5EF4-FFF2-40B4-BE49-F238E27FC236}">
                <a16:creationId xmlns:a16="http://schemas.microsoft.com/office/drawing/2014/main" id="{3382EC01-2763-41C5-91B5-BA004726A2CC}"/>
              </a:ext>
            </a:extLst>
          </p:cNvPr>
          <p:cNvSpPr>
            <a:spLocks noChangeArrowheads="1"/>
          </p:cNvSpPr>
          <p:nvPr/>
        </p:nvSpPr>
        <p:spPr bwMode="auto">
          <a:xfrm>
            <a:off x="317500" y="4691639"/>
            <a:ext cx="8763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United Nations SDG 4: Quality Education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dashboard serves as a learning tool for students and beginners to understand stock market analysis, technical indicators, and machine learning concepts.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64135" algn="ctr">
              <a:lnSpc>
                <a:spcPct val="100000"/>
              </a:lnSpc>
              <a:spcBef>
                <a:spcPts val="95"/>
              </a:spcBef>
            </a:pPr>
            <a:r>
              <a:rPr spc="-50" dirty="0"/>
              <a:t>Technologies</a:t>
            </a:r>
          </a:p>
        </p:txBody>
      </p:sp>
      <p:sp>
        <p:nvSpPr>
          <p:cNvPr id="9" name="Rectangle 1">
            <a:extLst>
              <a:ext uri="{FF2B5EF4-FFF2-40B4-BE49-F238E27FC236}">
                <a16:creationId xmlns:a16="http://schemas.microsoft.com/office/drawing/2014/main" id="{2D120753-A546-4DDF-B422-266AB0168A41}"/>
              </a:ext>
            </a:extLst>
          </p:cNvPr>
          <p:cNvSpPr>
            <a:spLocks noChangeArrowheads="1"/>
          </p:cNvSpPr>
          <p:nvPr/>
        </p:nvSpPr>
        <p:spPr bwMode="auto">
          <a:xfrm>
            <a:off x="619784" y="1472514"/>
            <a:ext cx="390844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 Streamlit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 Python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 Pandas, NumPy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Plotly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yfinance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Scikit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4" name="object 4"/>
          <p:cNvSpPr txBox="1"/>
          <p:nvPr/>
        </p:nvSpPr>
        <p:spPr>
          <a:xfrm>
            <a:off x="771753" y="1259770"/>
            <a:ext cx="8465820" cy="5559920"/>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project follows a structured approach for analyzing and predicting stock market data. First, stock data is collected either through a live API using ticker symbols or by uploading a dataset in CSV format. The collected data is then preprocessed by converting date formats, handling missing values, and ensuring all required columns are in numeric form.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Next, feature engineering is performed to generate important financial metrics such as returns, moving averages, and volatility. These features are used to apply technical indicators like Moving Average, RSI, and MACD to analyze stock trends and momentum.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Risk analysis is carried out by calculating the rolling standard deviation of returns and normalizing it to obtain a risk score, which is further categorized into low, medium, or high risk levels.</a:t>
            </a:r>
          </a:p>
          <a:p>
            <a:pPr marL="355600" marR="1339850" indent="-342900">
              <a:lnSpc>
                <a:spcPct val="113900"/>
              </a:lnSpc>
              <a:spcBef>
                <a:spcPts val="100"/>
              </a:spcBef>
              <a:buFont typeface="Arial" panose="020B0604020202020204" pitchFamily="34" charset="0"/>
              <a:buChar char="•"/>
            </a:pPr>
            <a:endParaRPr sz="2250" dirty="0">
              <a:latin typeface="Times New Roman"/>
              <a:cs typeface="Times New Roman"/>
            </a:endParaRPr>
          </a:p>
        </p:txBody>
      </p:sp>
      <p:sp>
        <p:nvSpPr>
          <p:cNvPr id="9" name="object 9"/>
          <p:cNvSpPr txBox="1">
            <a:spLocks noGrp="1"/>
          </p:cNvSpPr>
          <p:nvPr>
            <p:ph type="title"/>
          </p:nvPr>
        </p:nvSpPr>
        <p:spPr>
          <a:xfrm>
            <a:off x="482561" y="282902"/>
            <a:ext cx="2632075" cy="591185"/>
          </a:xfrm>
          <a:prstGeom prst="rect">
            <a:avLst/>
          </a:prstGeom>
        </p:spPr>
        <p:txBody>
          <a:bodyPr vert="horz" wrap="square" lIns="0" tIns="13970" rIns="0" bIns="0" rtlCol="0">
            <a:spAutoFit/>
          </a:bodyPr>
          <a:lstStyle/>
          <a:p>
            <a:pPr marL="12700">
              <a:lnSpc>
                <a:spcPct val="100000"/>
              </a:lnSpc>
              <a:spcBef>
                <a:spcPts val="110"/>
              </a:spcBef>
            </a:pPr>
            <a:r>
              <a:rPr sz="3700" spc="-25" dirty="0"/>
              <a:t>Methodology</a:t>
            </a:r>
            <a:endParaRPr sz="3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12065" rIns="0" bIns="0" rtlCol="0">
            <a:spAutoFit/>
          </a:bodyPr>
          <a:lstStyle/>
          <a:p>
            <a:pPr marL="167640">
              <a:lnSpc>
                <a:spcPct val="100000"/>
              </a:lnSpc>
              <a:spcBef>
                <a:spcPts val="95"/>
              </a:spcBef>
            </a:pPr>
            <a:r>
              <a:rPr spc="-90" dirty="0"/>
              <a:t>Implementation</a:t>
            </a:r>
          </a:p>
        </p:txBody>
      </p:sp>
      <p:sp>
        <p:nvSpPr>
          <p:cNvPr id="2" name="AutoShape 2" descr="blob:https://web.whatsapp.com/6320768a-f7bd-41cb-906b-408130df2580">
            <a:extLst>
              <a:ext uri="{FF2B5EF4-FFF2-40B4-BE49-F238E27FC236}">
                <a16:creationId xmlns:a16="http://schemas.microsoft.com/office/drawing/2014/main" id="{DCE3CDF8-4421-4069-8D12-CE3F831E4BDC}"/>
              </a:ext>
            </a:extLst>
          </p:cNvPr>
          <p:cNvSpPr>
            <a:spLocks noChangeAspect="1" noChangeArrowheads="1"/>
          </p:cNvSpPr>
          <p:nvPr/>
        </p:nvSpPr>
        <p:spPr bwMode="auto">
          <a:xfrm>
            <a:off x="4889500" y="36258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236B225A-6F7F-438B-B80C-78C906456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18" y="1329827"/>
            <a:ext cx="8918582" cy="47530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12065" rIns="0" bIns="0" rtlCol="0">
            <a:spAutoFit/>
          </a:bodyPr>
          <a:lstStyle/>
          <a:p>
            <a:pPr marL="167640">
              <a:lnSpc>
                <a:spcPct val="100000"/>
              </a:lnSpc>
              <a:spcBef>
                <a:spcPts val="95"/>
              </a:spcBef>
            </a:pPr>
            <a:r>
              <a:rPr spc="-90" dirty="0"/>
              <a:t>Implementation</a:t>
            </a:r>
          </a:p>
        </p:txBody>
      </p:sp>
      <p:pic>
        <p:nvPicPr>
          <p:cNvPr id="3" name="Picture 2">
            <a:extLst>
              <a:ext uri="{FF2B5EF4-FFF2-40B4-BE49-F238E27FC236}">
                <a16:creationId xmlns:a16="http://schemas.microsoft.com/office/drawing/2014/main" id="{A92F5AD5-D127-47B3-B47E-0BE13EE878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65" y="1253627"/>
            <a:ext cx="9474269" cy="50492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12065" rIns="0" bIns="0" rtlCol="0">
            <a:spAutoFit/>
          </a:bodyPr>
          <a:lstStyle/>
          <a:p>
            <a:pPr marL="167640">
              <a:lnSpc>
                <a:spcPct val="100000"/>
              </a:lnSpc>
              <a:spcBef>
                <a:spcPts val="95"/>
              </a:spcBef>
            </a:pPr>
            <a:r>
              <a:rPr spc="-90" dirty="0"/>
              <a:t>Implementation</a:t>
            </a:r>
          </a:p>
        </p:txBody>
      </p:sp>
      <p:pic>
        <p:nvPicPr>
          <p:cNvPr id="4" name="Picture 3">
            <a:extLst>
              <a:ext uri="{FF2B5EF4-FFF2-40B4-BE49-F238E27FC236}">
                <a16:creationId xmlns:a16="http://schemas.microsoft.com/office/drawing/2014/main" id="{26E53608-E03C-454D-B304-3D6AD7F56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882" y="1444127"/>
            <a:ext cx="8759371" cy="4668245"/>
          </a:xfrm>
          <a:prstGeom prst="rect">
            <a:avLst/>
          </a:prstGeom>
        </p:spPr>
      </p:pic>
    </p:spTree>
    <p:extLst>
      <p:ext uri="{BB962C8B-B14F-4D97-AF65-F5344CB8AC3E}">
        <p14:creationId xmlns:p14="http://schemas.microsoft.com/office/powerpoint/2010/main" val="1133479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12065" rIns="0" bIns="0" rtlCol="0">
            <a:spAutoFit/>
          </a:bodyPr>
          <a:lstStyle/>
          <a:p>
            <a:pPr marL="167640">
              <a:lnSpc>
                <a:spcPct val="100000"/>
              </a:lnSpc>
              <a:spcBef>
                <a:spcPts val="95"/>
              </a:spcBef>
            </a:pPr>
            <a:r>
              <a:rPr spc="-90" dirty="0"/>
              <a:t>Implementation</a:t>
            </a:r>
          </a:p>
        </p:txBody>
      </p:sp>
      <p:pic>
        <p:nvPicPr>
          <p:cNvPr id="3" name="Picture 2">
            <a:extLst>
              <a:ext uri="{FF2B5EF4-FFF2-40B4-BE49-F238E27FC236}">
                <a16:creationId xmlns:a16="http://schemas.microsoft.com/office/drawing/2014/main" id="{22925D71-829D-4362-8749-C534D810E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65" y="1416050"/>
            <a:ext cx="9474269" cy="5049245"/>
          </a:xfrm>
          <a:prstGeom prst="rect">
            <a:avLst/>
          </a:prstGeom>
        </p:spPr>
      </p:pic>
    </p:spTree>
    <p:extLst>
      <p:ext uri="{BB962C8B-B14F-4D97-AF65-F5344CB8AC3E}">
        <p14:creationId xmlns:p14="http://schemas.microsoft.com/office/powerpoint/2010/main" val="3623145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422609"/>
            <a:ext cx="495300" cy="3130550"/>
            <a:chOff x="0" y="4422609"/>
            <a:chExt cx="495300" cy="3130550"/>
          </a:xfrm>
        </p:grpSpPr>
        <p:pic>
          <p:nvPicPr>
            <p:cNvPr id="3" name="object 3"/>
            <p:cNvPicPr/>
            <p:nvPr/>
          </p:nvPicPr>
          <p:blipFill>
            <a:blip r:embed="rId2" cstate="print"/>
            <a:stretch>
              <a:fillRect/>
            </a:stretch>
          </p:blipFill>
          <p:spPr>
            <a:xfrm>
              <a:off x="285749" y="4561816"/>
              <a:ext cx="66675" cy="66674"/>
            </a:xfrm>
            <a:prstGeom prst="rect">
              <a:avLst/>
            </a:prstGeom>
          </p:spPr>
        </p:pic>
        <p:pic>
          <p:nvPicPr>
            <p:cNvPr id="4" name="object 4"/>
            <p:cNvPicPr/>
            <p:nvPr/>
          </p:nvPicPr>
          <p:blipFill>
            <a:blip r:embed="rId2" cstate="print"/>
            <a:stretch>
              <a:fillRect/>
            </a:stretch>
          </p:blipFill>
          <p:spPr>
            <a:xfrm>
              <a:off x="285749" y="5342866"/>
              <a:ext cx="66675" cy="66674"/>
            </a:xfrm>
            <a:prstGeom prst="rect">
              <a:avLst/>
            </a:prstGeom>
          </p:spPr>
        </p:pic>
        <p:pic>
          <p:nvPicPr>
            <p:cNvPr id="5" name="object 5"/>
            <p:cNvPicPr/>
            <p:nvPr/>
          </p:nvPicPr>
          <p:blipFill>
            <a:blip r:embed="rId2" cstate="print"/>
            <a:stretch>
              <a:fillRect/>
            </a:stretch>
          </p:blipFill>
          <p:spPr>
            <a:xfrm>
              <a:off x="285749" y="6123916"/>
              <a:ext cx="66675" cy="66674"/>
            </a:xfrm>
            <a:prstGeom prst="rect">
              <a:avLst/>
            </a:prstGeom>
          </p:spPr>
        </p:pic>
      </p:grpSp>
      <p:pic>
        <p:nvPicPr>
          <p:cNvPr id="6" name="object 6"/>
          <p:cNvPicPr/>
          <p:nvPr/>
        </p:nvPicPr>
        <p:blipFill>
          <a:blip r:embed="rId3" cstate="print"/>
          <a:stretch>
            <a:fillRect/>
          </a:stretch>
        </p:blipFill>
        <p:spPr>
          <a:xfrm>
            <a:off x="5585860" y="0"/>
            <a:ext cx="4491589" cy="7553324"/>
          </a:xfrm>
          <a:prstGeom prst="rect">
            <a:avLst/>
          </a:prstGeom>
        </p:spPr>
      </p:pic>
      <p:sp>
        <p:nvSpPr>
          <p:cNvPr id="7" name="object 7"/>
          <p:cNvSpPr txBox="1">
            <a:spLocks noGrp="1"/>
          </p:cNvSpPr>
          <p:nvPr>
            <p:ph type="title"/>
          </p:nvPr>
        </p:nvSpPr>
        <p:spPr>
          <a:prstGeom prst="rect">
            <a:avLst/>
          </a:prstGeom>
        </p:spPr>
        <p:txBody>
          <a:bodyPr vert="horz" wrap="square" lIns="0" tIns="12065" rIns="0" bIns="0" rtlCol="0">
            <a:spAutoFit/>
          </a:bodyPr>
          <a:lstStyle/>
          <a:p>
            <a:pPr marL="64135">
              <a:lnSpc>
                <a:spcPct val="100000"/>
              </a:lnSpc>
              <a:spcBef>
                <a:spcPts val="95"/>
              </a:spcBef>
            </a:pPr>
            <a:r>
              <a:rPr spc="-35" dirty="0"/>
              <a:t>Result</a:t>
            </a:r>
            <a:r>
              <a:rPr spc="-170" dirty="0"/>
              <a:t> </a:t>
            </a:r>
            <a:r>
              <a:rPr spc="-25" dirty="0"/>
              <a:t>Analysis</a:t>
            </a:r>
          </a:p>
        </p:txBody>
      </p:sp>
      <p:pic>
        <p:nvPicPr>
          <p:cNvPr id="8" name="object 8"/>
          <p:cNvPicPr/>
          <p:nvPr/>
        </p:nvPicPr>
        <p:blipFill>
          <a:blip r:embed="rId2" cstate="print"/>
          <a:stretch>
            <a:fillRect/>
          </a:stretch>
        </p:blipFill>
        <p:spPr>
          <a:xfrm>
            <a:off x="285749" y="1437617"/>
            <a:ext cx="66675" cy="66674"/>
          </a:xfrm>
          <a:prstGeom prst="rect">
            <a:avLst/>
          </a:prstGeom>
        </p:spPr>
      </p:pic>
      <p:sp>
        <p:nvSpPr>
          <p:cNvPr id="9" name="object 9"/>
          <p:cNvSpPr txBox="1"/>
          <p:nvPr/>
        </p:nvSpPr>
        <p:spPr>
          <a:xfrm>
            <a:off x="462210" y="1185515"/>
            <a:ext cx="9304655" cy="5492750"/>
          </a:xfrm>
          <a:prstGeom prst="rect">
            <a:avLst/>
          </a:prstGeom>
        </p:spPr>
        <p:txBody>
          <a:bodyPr vert="horz" wrap="square" lIns="0" tIns="12700" rIns="0" bIns="0" rtlCol="0">
            <a:spAutoFit/>
          </a:bodyPr>
          <a:lstStyle/>
          <a:p>
            <a:pPr marL="12700" marR="5080">
              <a:lnSpc>
                <a:spcPct val="116500"/>
              </a:lnSpc>
              <a:spcBef>
                <a:spcPts val="100"/>
              </a:spcBef>
            </a:pPr>
            <a:r>
              <a:rPr sz="2200" spc="60" dirty="0">
                <a:latin typeface="Times New Roman"/>
                <a:cs typeface="Times New Roman"/>
              </a:rPr>
              <a:t>The</a:t>
            </a:r>
            <a:r>
              <a:rPr sz="2200" spc="385" dirty="0">
                <a:latin typeface="Times New Roman"/>
                <a:cs typeface="Times New Roman"/>
              </a:rPr>
              <a:t> </a:t>
            </a:r>
            <a:r>
              <a:rPr sz="2200" spc="55" dirty="0">
                <a:latin typeface="Times New Roman"/>
                <a:cs typeface="Times New Roman"/>
              </a:rPr>
              <a:t>stock</a:t>
            </a:r>
            <a:r>
              <a:rPr sz="2200" spc="390" dirty="0">
                <a:latin typeface="Times New Roman"/>
                <a:cs typeface="Times New Roman"/>
              </a:rPr>
              <a:t> </a:t>
            </a:r>
            <a:r>
              <a:rPr sz="2200" dirty="0">
                <a:latin typeface="Times New Roman"/>
                <a:cs typeface="Times New Roman"/>
              </a:rPr>
              <a:t>shows</a:t>
            </a:r>
            <a:r>
              <a:rPr sz="2200" spc="390" dirty="0">
                <a:latin typeface="Times New Roman"/>
                <a:cs typeface="Times New Roman"/>
              </a:rPr>
              <a:t> </a:t>
            </a:r>
            <a:r>
              <a:rPr sz="2200" dirty="0">
                <a:latin typeface="Times New Roman"/>
                <a:cs typeface="Times New Roman"/>
              </a:rPr>
              <a:t>high</a:t>
            </a:r>
            <a:r>
              <a:rPr sz="2200" spc="385" dirty="0">
                <a:latin typeface="Times New Roman"/>
                <a:cs typeface="Times New Roman"/>
              </a:rPr>
              <a:t> </a:t>
            </a:r>
            <a:r>
              <a:rPr sz="2200" dirty="0">
                <a:latin typeface="Times New Roman"/>
                <a:cs typeface="Times New Roman"/>
              </a:rPr>
              <a:t>volatility</a:t>
            </a:r>
            <a:r>
              <a:rPr sz="2200" spc="390" dirty="0">
                <a:latin typeface="Times New Roman"/>
                <a:cs typeface="Times New Roman"/>
              </a:rPr>
              <a:t> </a:t>
            </a:r>
            <a:r>
              <a:rPr sz="2200" dirty="0">
                <a:latin typeface="Times New Roman"/>
                <a:cs typeface="Times New Roman"/>
              </a:rPr>
              <a:t>in</a:t>
            </a:r>
            <a:r>
              <a:rPr sz="2200" spc="390" dirty="0">
                <a:latin typeface="Times New Roman"/>
                <a:cs typeface="Times New Roman"/>
              </a:rPr>
              <a:t> </a:t>
            </a:r>
            <a:r>
              <a:rPr sz="2200" spc="65" dirty="0">
                <a:latin typeface="Times New Roman"/>
                <a:cs typeface="Times New Roman"/>
              </a:rPr>
              <a:t>the</a:t>
            </a:r>
            <a:r>
              <a:rPr sz="2200" spc="385" dirty="0">
                <a:latin typeface="Times New Roman"/>
                <a:cs typeface="Times New Roman"/>
              </a:rPr>
              <a:t> </a:t>
            </a:r>
            <a:r>
              <a:rPr sz="2200" dirty="0">
                <a:latin typeface="Times New Roman"/>
                <a:cs typeface="Times New Roman"/>
              </a:rPr>
              <a:t>initial</a:t>
            </a:r>
            <a:r>
              <a:rPr sz="2200" spc="390" dirty="0">
                <a:latin typeface="Times New Roman"/>
                <a:cs typeface="Times New Roman"/>
              </a:rPr>
              <a:t> </a:t>
            </a:r>
            <a:r>
              <a:rPr sz="2200" spc="55" dirty="0">
                <a:latin typeface="Times New Roman"/>
                <a:cs typeface="Times New Roman"/>
              </a:rPr>
              <a:t>period,</a:t>
            </a:r>
            <a:r>
              <a:rPr sz="2200" spc="390" dirty="0">
                <a:latin typeface="Times New Roman"/>
                <a:cs typeface="Times New Roman"/>
              </a:rPr>
              <a:t> </a:t>
            </a:r>
            <a:r>
              <a:rPr sz="2200" dirty="0">
                <a:latin typeface="Times New Roman"/>
                <a:cs typeface="Times New Roman"/>
              </a:rPr>
              <a:t>with</a:t>
            </a:r>
            <a:r>
              <a:rPr sz="2200" spc="390" dirty="0">
                <a:latin typeface="Times New Roman"/>
                <a:cs typeface="Times New Roman"/>
              </a:rPr>
              <a:t> </a:t>
            </a:r>
            <a:r>
              <a:rPr sz="2200" spc="80" dirty="0">
                <a:latin typeface="Times New Roman"/>
                <a:cs typeface="Times New Roman"/>
              </a:rPr>
              <a:t>sharp</a:t>
            </a:r>
            <a:r>
              <a:rPr sz="2200" spc="385" dirty="0">
                <a:latin typeface="Times New Roman"/>
                <a:cs typeface="Times New Roman"/>
              </a:rPr>
              <a:t> </a:t>
            </a:r>
            <a:r>
              <a:rPr sz="2200" spc="40" dirty="0">
                <a:latin typeface="Times New Roman"/>
                <a:cs typeface="Times New Roman"/>
              </a:rPr>
              <a:t>fluctuations </a:t>
            </a:r>
            <a:r>
              <a:rPr sz="2200" spc="105" dirty="0">
                <a:latin typeface="Times New Roman"/>
                <a:cs typeface="Times New Roman"/>
              </a:rPr>
              <a:t>and</a:t>
            </a:r>
            <a:r>
              <a:rPr sz="2200" spc="50" dirty="0">
                <a:latin typeface="Times New Roman"/>
                <a:cs typeface="Times New Roman"/>
              </a:rPr>
              <a:t> </a:t>
            </a:r>
            <a:r>
              <a:rPr sz="2200" spc="45" dirty="0">
                <a:latin typeface="Times New Roman"/>
                <a:cs typeface="Times New Roman"/>
              </a:rPr>
              <a:t>unstable </a:t>
            </a:r>
            <a:r>
              <a:rPr sz="2200" dirty="0">
                <a:latin typeface="Times New Roman"/>
                <a:cs typeface="Times New Roman"/>
              </a:rPr>
              <a:t>price</a:t>
            </a:r>
            <a:r>
              <a:rPr sz="2200" spc="50" dirty="0">
                <a:latin typeface="Times New Roman"/>
                <a:cs typeface="Times New Roman"/>
              </a:rPr>
              <a:t> </a:t>
            </a:r>
            <a:r>
              <a:rPr sz="2200" spc="-10" dirty="0">
                <a:latin typeface="Times New Roman"/>
                <a:cs typeface="Times New Roman"/>
              </a:rPr>
              <a:t>movement.</a:t>
            </a:r>
            <a:endParaRPr sz="2200">
              <a:latin typeface="Times New Roman"/>
              <a:cs typeface="Times New Roman"/>
            </a:endParaRPr>
          </a:p>
          <a:p>
            <a:pPr marL="12700" marR="5080">
              <a:lnSpc>
                <a:spcPct val="116500"/>
              </a:lnSpc>
            </a:pPr>
            <a:r>
              <a:rPr sz="2200" spc="95" dirty="0">
                <a:latin typeface="Times New Roman"/>
                <a:cs typeface="Times New Roman"/>
              </a:rPr>
              <a:t>A</a:t>
            </a:r>
            <a:r>
              <a:rPr sz="2200" spc="365" dirty="0">
                <a:latin typeface="Times New Roman"/>
                <a:cs typeface="Times New Roman"/>
              </a:rPr>
              <a:t> </a:t>
            </a:r>
            <a:r>
              <a:rPr sz="2200" dirty="0">
                <a:latin typeface="Times New Roman"/>
                <a:cs typeface="Times New Roman"/>
              </a:rPr>
              <a:t>significant</a:t>
            </a:r>
            <a:r>
              <a:rPr sz="2200" spc="365" dirty="0">
                <a:latin typeface="Times New Roman"/>
                <a:cs typeface="Times New Roman"/>
              </a:rPr>
              <a:t> </a:t>
            </a:r>
            <a:r>
              <a:rPr sz="2200" spc="85" dirty="0">
                <a:latin typeface="Times New Roman"/>
                <a:cs typeface="Times New Roman"/>
              </a:rPr>
              <a:t>drop</a:t>
            </a:r>
            <a:r>
              <a:rPr sz="2200" spc="365" dirty="0">
                <a:latin typeface="Times New Roman"/>
                <a:cs typeface="Times New Roman"/>
              </a:rPr>
              <a:t> </a:t>
            </a:r>
            <a:r>
              <a:rPr sz="2200" dirty="0">
                <a:latin typeface="Times New Roman"/>
                <a:cs typeface="Times New Roman"/>
              </a:rPr>
              <a:t>is</a:t>
            </a:r>
            <a:r>
              <a:rPr sz="2200" spc="365" dirty="0">
                <a:latin typeface="Times New Roman"/>
                <a:cs typeface="Times New Roman"/>
              </a:rPr>
              <a:t> </a:t>
            </a:r>
            <a:r>
              <a:rPr sz="2200" dirty="0">
                <a:latin typeface="Times New Roman"/>
                <a:cs typeface="Times New Roman"/>
              </a:rPr>
              <a:t>observed</a:t>
            </a:r>
            <a:r>
              <a:rPr sz="2200" spc="370" dirty="0">
                <a:latin typeface="Times New Roman"/>
                <a:cs typeface="Times New Roman"/>
              </a:rPr>
              <a:t> </a:t>
            </a:r>
            <a:r>
              <a:rPr sz="2200" dirty="0">
                <a:latin typeface="Times New Roman"/>
                <a:cs typeface="Times New Roman"/>
              </a:rPr>
              <a:t>early,</a:t>
            </a:r>
            <a:r>
              <a:rPr sz="2200" spc="365" dirty="0">
                <a:latin typeface="Times New Roman"/>
                <a:cs typeface="Times New Roman"/>
              </a:rPr>
              <a:t> </a:t>
            </a:r>
            <a:r>
              <a:rPr sz="2200" dirty="0">
                <a:latin typeface="Times New Roman"/>
                <a:cs typeface="Times New Roman"/>
              </a:rPr>
              <a:t>followed</a:t>
            </a:r>
            <a:r>
              <a:rPr sz="2200" spc="365" dirty="0">
                <a:latin typeface="Times New Roman"/>
                <a:cs typeface="Times New Roman"/>
              </a:rPr>
              <a:t> </a:t>
            </a:r>
            <a:r>
              <a:rPr sz="2200" dirty="0">
                <a:latin typeface="Times New Roman"/>
                <a:cs typeface="Times New Roman"/>
              </a:rPr>
              <a:t>by</a:t>
            </a:r>
            <a:r>
              <a:rPr sz="2200" spc="365" dirty="0">
                <a:latin typeface="Times New Roman"/>
                <a:cs typeface="Times New Roman"/>
              </a:rPr>
              <a:t> </a:t>
            </a:r>
            <a:r>
              <a:rPr sz="2200" spc="114" dirty="0">
                <a:latin typeface="Times New Roman"/>
                <a:cs typeface="Times New Roman"/>
              </a:rPr>
              <a:t>a</a:t>
            </a:r>
            <a:r>
              <a:rPr sz="2200" spc="365" dirty="0">
                <a:latin typeface="Times New Roman"/>
                <a:cs typeface="Times New Roman"/>
              </a:rPr>
              <a:t> </a:t>
            </a:r>
            <a:r>
              <a:rPr sz="2200" dirty="0">
                <a:latin typeface="Times New Roman"/>
                <a:cs typeface="Times New Roman"/>
              </a:rPr>
              <a:t>long</a:t>
            </a:r>
            <a:r>
              <a:rPr sz="2200" spc="370" dirty="0">
                <a:latin typeface="Times New Roman"/>
                <a:cs typeface="Times New Roman"/>
              </a:rPr>
              <a:t> </a:t>
            </a:r>
            <a:r>
              <a:rPr sz="2200" spc="50" dirty="0">
                <a:latin typeface="Times New Roman"/>
                <a:cs typeface="Times New Roman"/>
              </a:rPr>
              <a:t>consolidation</a:t>
            </a:r>
            <a:r>
              <a:rPr sz="2200" spc="365" dirty="0">
                <a:latin typeface="Times New Roman"/>
                <a:cs typeface="Times New Roman"/>
              </a:rPr>
              <a:t> </a:t>
            </a:r>
            <a:r>
              <a:rPr sz="2200" spc="35" dirty="0">
                <a:latin typeface="Times New Roman"/>
                <a:cs typeface="Times New Roman"/>
              </a:rPr>
              <a:t>phase </a:t>
            </a:r>
            <a:r>
              <a:rPr sz="2200" dirty="0">
                <a:latin typeface="Times New Roman"/>
                <a:cs typeface="Times New Roman"/>
              </a:rPr>
              <a:t>where</a:t>
            </a:r>
            <a:r>
              <a:rPr sz="2200" spc="30" dirty="0">
                <a:latin typeface="Times New Roman"/>
                <a:cs typeface="Times New Roman"/>
              </a:rPr>
              <a:t> </a:t>
            </a:r>
            <a:r>
              <a:rPr sz="2200" dirty="0">
                <a:latin typeface="Times New Roman"/>
                <a:cs typeface="Times New Roman"/>
              </a:rPr>
              <a:t>prices</a:t>
            </a:r>
            <a:r>
              <a:rPr sz="2200" spc="35" dirty="0">
                <a:latin typeface="Times New Roman"/>
                <a:cs typeface="Times New Roman"/>
              </a:rPr>
              <a:t> </a:t>
            </a:r>
            <a:r>
              <a:rPr sz="2200" spc="55" dirty="0">
                <a:latin typeface="Times New Roman"/>
                <a:cs typeface="Times New Roman"/>
              </a:rPr>
              <a:t>remain</a:t>
            </a:r>
            <a:r>
              <a:rPr sz="2200" spc="35" dirty="0">
                <a:latin typeface="Times New Roman"/>
                <a:cs typeface="Times New Roman"/>
              </a:rPr>
              <a:t> </a:t>
            </a:r>
            <a:r>
              <a:rPr sz="2200" dirty="0">
                <a:latin typeface="Times New Roman"/>
                <a:cs typeface="Times New Roman"/>
              </a:rPr>
              <a:t>relatively</a:t>
            </a:r>
            <a:r>
              <a:rPr sz="2200" spc="35" dirty="0">
                <a:latin typeface="Times New Roman"/>
                <a:cs typeface="Times New Roman"/>
              </a:rPr>
              <a:t> </a:t>
            </a:r>
            <a:r>
              <a:rPr sz="2200" spc="-10" dirty="0">
                <a:latin typeface="Times New Roman"/>
                <a:cs typeface="Times New Roman"/>
              </a:rPr>
              <a:t>stable.</a:t>
            </a:r>
            <a:endParaRPr sz="2200">
              <a:latin typeface="Times New Roman"/>
              <a:cs typeface="Times New Roman"/>
            </a:endParaRPr>
          </a:p>
          <a:p>
            <a:pPr marL="12700" marR="5080">
              <a:lnSpc>
                <a:spcPct val="116500"/>
              </a:lnSpc>
            </a:pPr>
            <a:r>
              <a:rPr sz="2200" spc="90" dirty="0">
                <a:latin typeface="Times New Roman"/>
                <a:cs typeface="Times New Roman"/>
              </a:rPr>
              <a:t>From</a:t>
            </a:r>
            <a:r>
              <a:rPr sz="2200" spc="400" dirty="0">
                <a:latin typeface="Times New Roman"/>
                <a:cs typeface="Times New Roman"/>
              </a:rPr>
              <a:t> </a:t>
            </a:r>
            <a:r>
              <a:rPr sz="2200" spc="65" dirty="0">
                <a:latin typeface="Times New Roman"/>
                <a:cs typeface="Times New Roman"/>
              </a:rPr>
              <a:t>the</a:t>
            </a:r>
            <a:r>
              <a:rPr sz="2200" spc="405" dirty="0">
                <a:latin typeface="Times New Roman"/>
                <a:cs typeface="Times New Roman"/>
              </a:rPr>
              <a:t> </a:t>
            </a:r>
            <a:r>
              <a:rPr sz="2200" dirty="0">
                <a:latin typeface="Times New Roman"/>
                <a:cs typeface="Times New Roman"/>
              </a:rPr>
              <a:t>mid-</a:t>
            </a:r>
            <a:r>
              <a:rPr sz="2200" spc="60" dirty="0">
                <a:latin typeface="Times New Roman"/>
                <a:cs typeface="Times New Roman"/>
              </a:rPr>
              <a:t>period</a:t>
            </a:r>
            <a:r>
              <a:rPr sz="2200" spc="405" dirty="0">
                <a:latin typeface="Times New Roman"/>
                <a:cs typeface="Times New Roman"/>
              </a:rPr>
              <a:t> </a:t>
            </a:r>
            <a:r>
              <a:rPr sz="2200" spc="45" dirty="0">
                <a:latin typeface="Times New Roman"/>
                <a:cs typeface="Times New Roman"/>
              </a:rPr>
              <a:t>onwards,</a:t>
            </a:r>
            <a:r>
              <a:rPr sz="2200" spc="405" dirty="0">
                <a:latin typeface="Times New Roman"/>
                <a:cs typeface="Times New Roman"/>
              </a:rPr>
              <a:t> </a:t>
            </a:r>
            <a:r>
              <a:rPr sz="2200" spc="65" dirty="0">
                <a:latin typeface="Times New Roman"/>
                <a:cs typeface="Times New Roman"/>
              </a:rPr>
              <a:t>the</a:t>
            </a:r>
            <a:r>
              <a:rPr sz="2200" spc="405" dirty="0">
                <a:latin typeface="Times New Roman"/>
                <a:cs typeface="Times New Roman"/>
              </a:rPr>
              <a:t> </a:t>
            </a:r>
            <a:r>
              <a:rPr sz="2200" spc="55" dirty="0">
                <a:latin typeface="Times New Roman"/>
                <a:cs typeface="Times New Roman"/>
              </a:rPr>
              <a:t>stock</a:t>
            </a:r>
            <a:r>
              <a:rPr sz="2200" spc="400" dirty="0">
                <a:latin typeface="Times New Roman"/>
                <a:cs typeface="Times New Roman"/>
              </a:rPr>
              <a:t> </a:t>
            </a:r>
            <a:r>
              <a:rPr sz="2200" spc="55" dirty="0">
                <a:latin typeface="Times New Roman"/>
                <a:cs typeface="Times New Roman"/>
              </a:rPr>
              <a:t>demonstrates</a:t>
            </a:r>
            <a:r>
              <a:rPr sz="2200" spc="405" dirty="0">
                <a:latin typeface="Times New Roman"/>
                <a:cs typeface="Times New Roman"/>
              </a:rPr>
              <a:t> </a:t>
            </a:r>
            <a:r>
              <a:rPr sz="2200" spc="114" dirty="0">
                <a:latin typeface="Times New Roman"/>
                <a:cs typeface="Times New Roman"/>
              </a:rPr>
              <a:t>a</a:t>
            </a:r>
            <a:r>
              <a:rPr sz="2200" spc="405" dirty="0">
                <a:latin typeface="Times New Roman"/>
                <a:cs typeface="Times New Roman"/>
              </a:rPr>
              <a:t> </a:t>
            </a:r>
            <a:r>
              <a:rPr sz="2200" spc="45" dirty="0">
                <a:latin typeface="Times New Roman"/>
                <a:cs typeface="Times New Roman"/>
              </a:rPr>
              <a:t>consistent</a:t>
            </a:r>
            <a:r>
              <a:rPr sz="2200" spc="405" dirty="0">
                <a:latin typeface="Times New Roman"/>
                <a:cs typeface="Times New Roman"/>
              </a:rPr>
              <a:t> </a:t>
            </a:r>
            <a:r>
              <a:rPr sz="2200" spc="55" dirty="0">
                <a:latin typeface="Times New Roman"/>
                <a:cs typeface="Times New Roman"/>
              </a:rPr>
              <a:t>upward </a:t>
            </a:r>
            <a:r>
              <a:rPr sz="2200" spc="65" dirty="0">
                <a:latin typeface="Times New Roman"/>
                <a:cs typeface="Times New Roman"/>
              </a:rPr>
              <a:t>trend,</a:t>
            </a:r>
            <a:r>
              <a:rPr sz="2200" spc="130" dirty="0">
                <a:latin typeface="Times New Roman"/>
                <a:cs typeface="Times New Roman"/>
              </a:rPr>
              <a:t> </a:t>
            </a:r>
            <a:r>
              <a:rPr sz="2200" dirty="0">
                <a:latin typeface="Times New Roman"/>
                <a:cs typeface="Times New Roman"/>
              </a:rPr>
              <a:t>indicating</a:t>
            </a:r>
            <a:r>
              <a:rPr sz="2200" spc="130" dirty="0">
                <a:latin typeface="Times New Roman"/>
                <a:cs typeface="Times New Roman"/>
              </a:rPr>
              <a:t> </a:t>
            </a:r>
            <a:r>
              <a:rPr sz="2200" dirty="0">
                <a:latin typeface="Times New Roman"/>
                <a:cs typeface="Times New Roman"/>
              </a:rPr>
              <a:t>recovery</a:t>
            </a:r>
            <a:r>
              <a:rPr sz="2200" spc="130" dirty="0">
                <a:latin typeface="Times New Roman"/>
                <a:cs typeface="Times New Roman"/>
              </a:rPr>
              <a:t> </a:t>
            </a:r>
            <a:r>
              <a:rPr sz="2200" spc="105" dirty="0">
                <a:latin typeface="Times New Roman"/>
                <a:cs typeface="Times New Roman"/>
              </a:rPr>
              <a:t>and</a:t>
            </a:r>
            <a:r>
              <a:rPr sz="2200" spc="130" dirty="0">
                <a:latin typeface="Times New Roman"/>
                <a:cs typeface="Times New Roman"/>
              </a:rPr>
              <a:t> </a:t>
            </a:r>
            <a:r>
              <a:rPr sz="2200" spc="35" dirty="0">
                <a:latin typeface="Times New Roman"/>
                <a:cs typeface="Times New Roman"/>
              </a:rPr>
              <a:t>growth.</a:t>
            </a:r>
            <a:endParaRPr sz="2200">
              <a:latin typeface="Times New Roman"/>
              <a:cs typeface="Times New Roman"/>
            </a:endParaRPr>
          </a:p>
          <a:p>
            <a:pPr marL="12700" marR="5080">
              <a:lnSpc>
                <a:spcPct val="116500"/>
              </a:lnSpc>
              <a:tabLst>
                <a:tab pos="410209" algn="l"/>
                <a:tab pos="916305" algn="l"/>
                <a:tab pos="1771014" algn="l"/>
                <a:tab pos="2751455" algn="l"/>
                <a:tab pos="3027680" algn="l"/>
                <a:tab pos="3910965" algn="l"/>
                <a:tab pos="4629150" algn="l"/>
                <a:tab pos="5713730" algn="l"/>
                <a:tab pos="6734809" algn="l"/>
                <a:tab pos="8196580" algn="l"/>
                <a:tab pos="8515985" algn="l"/>
              </a:tabLst>
            </a:pPr>
            <a:r>
              <a:rPr sz="2200" spc="75" dirty="0">
                <a:latin typeface="Times New Roman"/>
                <a:cs typeface="Times New Roman"/>
              </a:rPr>
              <a:t>In</a:t>
            </a:r>
            <a:r>
              <a:rPr sz="2200" dirty="0">
                <a:latin typeface="Times New Roman"/>
                <a:cs typeface="Times New Roman"/>
              </a:rPr>
              <a:t>	</a:t>
            </a:r>
            <a:r>
              <a:rPr sz="2200" spc="40" dirty="0">
                <a:latin typeface="Times New Roman"/>
                <a:cs typeface="Times New Roman"/>
              </a:rPr>
              <a:t>the</a:t>
            </a:r>
            <a:r>
              <a:rPr sz="2200" dirty="0">
                <a:latin typeface="Times New Roman"/>
                <a:cs typeface="Times New Roman"/>
              </a:rPr>
              <a:t>	</a:t>
            </a:r>
            <a:r>
              <a:rPr sz="2200" spc="-10" dirty="0">
                <a:latin typeface="Times New Roman"/>
                <a:cs typeface="Times New Roman"/>
              </a:rPr>
              <a:t>recent</a:t>
            </a:r>
            <a:r>
              <a:rPr sz="2200" dirty="0">
                <a:latin typeface="Times New Roman"/>
                <a:cs typeface="Times New Roman"/>
              </a:rPr>
              <a:t>	</a:t>
            </a:r>
            <a:r>
              <a:rPr sz="2200" spc="45" dirty="0">
                <a:latin typeface="Times New Roman"/>
                <a:cs typeface="Times New Roman"/>
              </a:rPr>
              <a:t>period,</a:t>
            </a:r>
            <a:r>
              <a:rPr sz="2200" dirty="0">
                <a:latin typeface="Times New Roman"/>
                <a:cs typeface="Times New Roman"/>
              </a:rPr>
              <a:t>	</a:t>
            </a:r>
            <a:r>
              <a:rPr sz="2200" spc="65" dirty="0">
                <a:latin typeface="Times New Roman"/>
                <a:cs typeface="Times New Roman"/>
              </a:rPr>
              <a:t>a</a:t>
            </a:r>
            <a:r>
              <a:rPr sz="2200" dirty="0">
                <a:latin typeface="Times New Roman"/>
                <a:cs typeface="Times New Roman"/>
              </a:rPr>
              <a:t>	</a:t>
            </a:r>
            <a:r>
              <a:rPr sz="2200" spc="45" dirty="0">
                <a:latin typeface="Times New Roman"/>
                <a:cs typeface="Times New Roman"/>
              </a:rPr>
              <a:t>strong</a:t>
            </a:r>
            <a:r>
              <a:rPr sz="2200" dirty="0">
                <a:latin typeface="Times New Roman"/>
                <a:cs typeface="Times New Roman"/>
              </a:rPr>
              <a:t>	</a:t>
            </a:r>
            <a:r>
              <a:rPr sz="2200" spc="-10" dirty="0">
                <a:latin typeface="Times New Roman"/>
                <a:cs typeface="Times New Roman"/>
              </a:rPr>
              <a:t>price</a:t>
            </a:r>
            <a:r>
              <a:rPr sz="2200" dirty="0">
                <a:latin typeface="Times New Roman"/>
                <a:cs typeface="Times New Roman"/>
              </a:rPr>
              <a:t>	</a:t>
            </a:r>
            <a:r>
              <a:rPr sz="2200" spc="-10" dirty="0">
                <a:latin typeface="Times New Roman"/>
                <a:cs typeface="Times New Roman"/>
              </a:rPr>
              <a:t>increase</a:t>
            </a:r>
            <a:r>
              <a:rPr sz="2200" dirty="0">
                <a:latin typeface="Times New Roman"/>
                <a:cs typeface="Times New Roman"/>
              </a:rPr>
              <a:t>	</a:t>
            </a:r>
            <a:r>
              <a:rPr sz="2200" spc="-10" dirty="0">
                <a:latin typeface="Times New Roman"/>
                <a:cs typeface="Times New Roman"/>
              </a:rPr>
              <a:t>(bullish</a:t>
            </a:r>
            <a:r>
              <a:rPr sz="2200" dirty="0">
                <a:latin typeface="Times New Roman"/>
                <a:cs typeface="Times New Roman"/>
              </a:rPr>
              <a:t>	</a:t>
            </a:r>
            <a:r>
              <a:rPr sz="2200" spc="-10" dirty="0">
                <a:latin typeface="Times New Roman"/>
                <a:cs typeface="Times New Roman"/>
              </a:rPr>
              <a:t>movement)</a:t>
            </a:r>
            <a:r>
              <a:rPr sz="2200" dirty="0">
                <a:latin typeface="Times New Roman"/>
                <a:cs typeface="Times New Roman"/>
              </a:rPr>
              <a:t>	</a:t>
            </a:r>
            <a:r>
              <a:rPr sz="2200" spc="-25" dirty="0">
                <a:latin typeface="Times New Roman"/>
                <a:cs typeface="Times New Roman"/>
              </a:rPr>
              <a:t>is</a:t>
            </a:r>
            <a:r>
              <a:rPr sz="2200" dirty="0">
                <a:latin typeface="Times New Roman"/>
                <a:cs typeface="Times New Roman"/>
              </a:rPr>
              <a:t>	</a:t>
            </a:r>
            <a:r>
              <a:rPr sz="2200" spc="-10" dirty="0">
                <a:latin typeface="Times New Roman"/>
                <a:cs typeface="Times New Roman"/>
              </a:rPr>
              <a:t>clearly visible.</a:t>
            </a:r>
            <a:endParaRPr sz="2200">
              <a:latin typeface="Times New Roman"/>
              <a:cs typeface="Times New Roman"/>
            </a:endParaRPr>
          </a:p>
          <a:p>
            <a:pPr marL="12700" marR="5080">
              <a:lnSpc>
                <a:spcPct val="116500"/>
              </a:lnSpc>
            </a:pPr>
            <a:r>
              <a:rPr sz="2200" spc="60" dirty="0">
                <a:latin typeface="Times New Roman"/>
                <a:cs typeface="Times New Roman"/>
              </a:rPr>
              <a:t>The</a:t>
            </a:r>
            <a:r>
              <a:rPr sz="2200" spc="400" dirty="0">
                <a:latin typeface="Times New Roman"/>
                <a:cs typeface="Times New Roman"/>
              </a:rPr>
              <a:t> </a:t>
            </a:r>
            <a:r>
              <a:rPr sz="2200" spc="65" dirty="0">
                <a:latin typeface="Times New Roman"/>
                <a:cs typeface="Times New Roman"/>
              </a:rPr>
              <a:t>short-</a:t>
            </a:r>
            <a:r>
              <a:rPr sz="2200" spc="80" dirty="0">
                <a:latin typeface="Times New Roman"/>
                <a:cs typeface="Times New Roman"/>
              </a:rPr>
              <a:t>term</a:t>
            </a:r>
            <a:r>
              <a:rPr sz="2200" spc="400" dirty="0">
                <a:latin typeface="Times New Roman"/>
                <a:cs typeface="Times New Roman"/>
              </a:rPr>
              <a:t> </a:t>
            </a:r>
            <a:r>
              <a:rPr sz="2200" dirty="0">
                <a:latin typeface="Times New Roman"/>
                <a:cs typeface="Times New Roman"/>
              </a:rPr>
              <a:t>moving</a:t>
            </a:r>
            <a:r>
              <a:rPr sz="2200" spc="400" dirty="0">
                <a:latin typeface="Times New Roman"/>
                <a:cs typeface="Times New Roman"/>
              </a:rPr>
              <a:t> </a:t>
            </a:r>
            <a:r>
              <a:rPr sz="2200" dirty="0">
                <a:latin typeface="Times New Roman"/>
                <a:cs typeface="Times New Roman"/>
              </a:rPr>
              <a:t>average</a:t>
            </a:r>
            <a:r>
              <a:rPr sz="2200" spc="400" dirty="0">
                <a:latin typeface="Times New Roman"/>
                <a:cs typeface="Times New Roman"/>
              </a:rPr>
              <a:t> </a:t>
            </a:r>
            <a:r>
              <a:rPr sz="2200" dirty="0">
                <a:latin typeface="Times New Roman"/>
                <a:cs typeface="Times New Roman"/>
              </a:rPr>
              <a:t>(MA20)</a:t>
            </a:r>
            <a:r>
              <a:rPr sz="2200" spc="400" dirty="0">
                <a:latin typeface="Times New Roman"/>
                <a:cs typeface="Times New Roman"/>
              </a:rPr>
              <a:t> </a:t>
            </a:r>
            <a:r>
              <a:rPr sz="2200" dirty="0">
                <a:latin typeface="Times New Roman"/>
                <a:cs typeface="Times New Roman"/>
              </a:rPr>
              <a:t>closely</a:t>
            </a:r>
            <a:r>
              <a:rPr sz="2200" spc="400" dirty="0">
                <a:latin typeface="Times New Roman"/>
                <a:cs typeface="Times New Roman"/>
              </a:rPr>
              <a:t> </a:t>
            </a:r>
            <a:r>
              <a:rPr sz="2200" dirty="0">
                <a:latin typeface="Times New Roman"/>
                <a:cs typeface="Times New Roman"/>
              </a:rPr>
              <a:t>follows</a:t>
            </a:r>
            <a:r>
              <a:rPr sz="2200" spc="400" dirty="0">
                <a:latin typeface="Times New Roman"/>
                <a:cs typeface="Times New Roman"/>
              </a:rPr>
              <a:t> </a:t>
            </a:r>
            <a:r>
              <a:rPr sz="2200" dirty="0">
                <a:latin typeface="Times New Roman"/>
                <a:cs typeface="Times New Roman"/>
              </a:rPr>
              <a:t>price</a:t>
            </a:r>
            <a:r>
              <a:rPr sz="2200" spc="400" dirty="0">
                <a:latin typeface="Times New Roman"/>
                <a:cs typeface="Times New Roman"/>
              </a:rPr>
              <a:t> </a:t>
            </a:r>
            <a:r>
              <a:rPr sz="2200" dirty="0">
                <a:latin typeface="Times New Roman"/>
                <a:cs typeface="Times New Roman"/>
              </a:rPr>
              <a:t>changes,</a:t>
            </a:r>
            <a:r>
              <a:rPr sz="2200" spc="400" dirty="0">
                <a:latin typeface="Times New Roman"/>
                <a:cs typeface="Times New Roman"/>
              </a:rPr>
              <a:t> </a:t>
            </a:r>
            <a:r>
              <a:rPr sz="2200" spc="-10" dirty="0">
                <a:latin typeface="Times New Roman"/>
                <a:cs typeface="Times New Roman"/>
              </a:rPr>
              <a:t>while </a:t>
            </a:r>
            <a:r>
              <a:rPr sz="2200" spc="65" dirty="0">
                <a:latin typeface="Times New Roman"/>
                <a:cs typeface="Times New Roman"/>
              </a:rPr>
              <a:t>the</a:t>
            </a:r>
            <a:r>
              <a:rPr sz="2200" spc="90" dirty="0">
                <a:latin typeface="Times New Roman"/>
                <a:cs typeface="Times New Roman"/>
              </a:rPr>
              <a:t> </a:t>
            </a:r>
            <a:r>
              <a:rPr sz="2200" dirty="0">
                <a:latin typeface="Times New Roman"/>
                <a:cs typeface="Times New Roman"/>
              </a:rPr>
              <a:t>long-</a:t>
            </a:r>
            <a:r>
              <a:rPr sz="2200" spc="80" dirty="0">
                <a:latin typeface="Times New Roman"/>
                <a:cs typeface="Times New Roman"/>
              </a:rPr>
              <a:t>term</a:t>
            </a:r>
            <a:r>
              <a:rPr sz="2200" spc="95" dirty="0">
                <a:latin typeface="Times New Roman"/>
                <a:cs typeface="Times New Roman"/>
              </a:rPr>
              <a:t> </a:t>
            </a:r>
            <a:r>
              <a:rPr sz="2200" dirty="0">
                <a:latin typeface="Times New Roman"/>
                <a:cs typeface="Times New Roman"/>
              </a:rPr>
              <a:t>moving</a:t>
            </a:r>
            <a:r>
              <a:rPr sz="2200" spc="90" dirty="0">
                <a:latin typeface="Times New Roman"/>
                <a:cs typeface="Times New Roman"/>
              </a:rPr>
              <a:t> </a:t>
            </a:r>
            <a:r>
              <a:rPr sz="2200" dirty="0">
                <a:latin typeface="Times New Roman"/>
                <a:cs typeface="Times New Roman"/>
              </a:rPr>
              <a:t>average</a:t>
            </a:r>
            <a:r>
              <a:rPr sz="2200" spc="95" dirty="0">
                <a:latin typeface="Times New Roman"/>
                <a:cs typeface="Times New Roman"/>
              </a:rPr>
              <a:t> </a:t>
            </a:r>
            <a:r>
              <a:rPr sz="2200" dirty="0">
                <a:latin typeface="Times New Roman"/>
                <a:cs typeface="Times New Roman"/>
              </a:rPr>
              <a:t>(MA50)</a:t>
            </a:r>
            <a:r>
              <a:rPr sz="2200" spc="90" dirty="0">
                <a:latin typeface="Times New Roman"/>
                <a:cs typeface="Times New Roman"/>
              </a:rPr>
              <a:t> </a:t>
            </a:r>
            <a:r>
              <a:rPr sz="2200" spc="70" dirty="0">
                <a:latin typeface="Times New Roman"/>
                <a:cs typeface="Times New Roman"/>
              </a:rPr>
              <a:t>smooths</a:t>
            </a:r>
            <a:r>
              <a:rPr sz="2200" spc="95" dirty="0">
                <a:latin typeface="Times New Roman"/>
                <a:cs typeface="Times New Roman"/>
              </a:rPr>
              <a:t> </a:t>
            </a:r>
            <a:r>
              <a:rPr sz="2200" spc="65" dirty="0">
                <a:latin typeface="Times New Roman"/>
                <a:cs typeface="Times New Roman"/>
              </a:rPr>
              <a:t>the</a:t>
            </a:r>
            <a:r>
              <a:rPr sz="2200" spc="90" dirty="0">
                <a:latin typeface="Times New Roman"/>
                <a:cs typeface="Times New Roman"/>
              </a:rPr>
              <a:t> </a:t>
            </a:r>
            <a:r>
              <a:rPr sz="2200" spc="55" dirty="0">
                <a:latin typeface="Times New Roman"/>
                <a:cs typeface="Times New Roman"/>
              </a:rPr>
              <a:t>trend.</a:t>
            </a:r>
            <a:endParaRPr sz="2200">
              <a:latin typeface="Times New Roman"/>
              <a:cs typeface="Times New Roman"/>
            </a:endParaRPr>
          </a:p>
          <a:p>
            <a:pPr marL="12700" marR="5080">
              <a:lnSpc>
                <a:spcPct val="116500"/>
              </a:lnSpc>
            </a:pPr>
            <a:r>
              <a:rPr sz="2200" spc="55" dirty="0">
                <a:latin typeface="Times New Roman"/>
                <a:cs typeface="Times New Roman"/>
              </a:rPr>
              <a:t>Multiple</a:t>
            </a:r>
            <a:r>
              <a:rPr sz="2200" spc="295" dirty="0">
                <a:latin typeface="Times New Roman"/>
                <a:cs typeface="Times New Roman"/>
              </a:rPr>
              <a:t> </a:t>
            </a:r>
            <a:r>
              <a:rPr sz="2200" dirty="0">
                <a:latin typeface="Times New Roman"/>
                <a:cs typeface="Times New Roman"/>
              </a:rPr>
              <a:t>instances</a:t>
            </a:r>
            <a:r>
              <a:rPr sz="2200" spc="300" dirty="0">
                <a:latin typeface="Times New Roman"/>
                <a:cs typeface="Times New Roman"/>
              </a:rPr>
              <a:t> </a:t>
            </a:r>
            <a:r>
              <a:rPr sz="2200" dirty="0">
                <a:latin typeface="Times New Roman"/>
                <a:cs typeface="Times New Roman"/>
              </a:rPr>
              <a:t>where</a:t>
            </a:r>
            <a:r>
              <a:rPr sz="2200" spc="295" dirty="0">
                <a:latin typeface="Times New Roman"/>
                <a:cs typeface="Times New Roman"/>
              </a:rPr>
              <a:t> </a:t>
            </a:r>
            <a:r>
              <a:rPr sz="2200" spc="70" dirty="0">
                <a:latin typeface="Times New Roman"/>
                <a:cs typeface="Times New Roman"/>
              </a:rPr>
              <a:t>MA20</a:t>
            </a:r>
            <a:r>
              <a:rPr sz="2200" spc="300" dirty="0">
                <a:latin typeface="Times New Roman"/>
                <a:cs typeface="Times New Roman"/>
              </a:rPr>
              <a:t> </a:t>
            </a:r>
            <a:r>
              <a:rPr sz="2200" dirty="0">
                <a:latin typeface="Times New Roman"/>
                <a:cs typeface="Times New Roman"/>
              </a:rPr>
              <a:t>stays</a:t>
            </a:r>
            <a:r>
              <a:rPr sz="2200" spc="300" dirty="0">
                <a:latin typeface="Times New Roman"/>
                <a:cs typeface="Times New Roman"/>
              </a:rPr>
              <a:t> </a:t>
            </a:r>
            <a:r>
              <a:rPr sz="2200" dirty="0">
                <a:latin typeface="Times New Roman"/>
                <a:cs typeface="Times New Roman"/>
              </a:rPr>
              <a:t>above</a:t>
            </a:r>
            <a:r>
              <a:rPr sz="2200" spc="295" dirty="0">
                <a:latin typeface="Times New Roman"/>
                <a:cs typeface="Times New Roman"/>
              </a:rPr>
              <a:t> </a:t>
            </a:r>
            <a:r>
              <a:rPr sz="2200" spc="70" dirty="0">
                <a:latin typeface="Times New Roman"/>
                <a:cs typeface="Times New Roman"/>
              </a:rPr>
              <a:t>MA50</a:t>
            </a:r>
            <a:r>
              <a:rPr sz="2200" spc="300" dirty="0">
                <a:latin typeface="Times New Roman"/>
                <a:cs typeface="Times New Roman"/>
              </a:rPr>
              <a:t> </a:t>
            </a:r>
            <a:r>
              <a:rPr sz="2200" dirty="0">
                <a:latin typeface="Times New Roman"/>
                <a:cs typeface="Times New Roman"/>
              </a:rPr>
              <a:t>indicate</a:t>
            </a:r>
            <a:r>
              <a:rPr sz="2200" spc="300" dirty="0">
                <a:latin typeface="Times New Roman"/>
                <a:cs typeface="Times New Roman"/>
              </a:rPr>
              <a:t> </a:t>
            </a:r>
            <a:r>
              <a:rPr sz="2200" spc="50" dirty="0">
                <a:latin typeface="Times New Roman"/>
                <a:cs typeface="Times New Roman"/>
              </a:rPr>
              <a:t>sustained</a:t>
            </a:r>
            <a:r>
              <a:rPr sz="2200" spc="295" dirty="0">
                <a:latin typeface="Times New Roman"/>
                <a:cs typeface="Times New Roman"/>
              </a:rPr>
              <a:t> </a:t>
            </a:r>
            <a:r>
              <a:rPr sz="2200" spc="-10" dirty="0">
                <a:latin typeface="Times New Roman"/>
                <a:cs typeface="Times New Roman"/>
              </a:rPr>
              <a:t>bullish </a:t>
            </a:r>
            <a:r>
              <a:rPr sz="2200" spc="65" dirty="0">
                <a:latin typeface="Times New Roman"/>
                <a:cs typeface="Times New Roman"/>
              </a:rPr>
              <a:t>momentum.</a:t>
            </a:r>
            <a:endParaRPr sz="2200">
              <a:latin typeface="Times New Roman"/>
              <a:cs typeface="Times New Roman"/>
            </a:endParaRPr>
          </a:p>
          <a:p>
            <a:pPr marL="12700" marR="5080">
              <a:lnSpc>
                <a:spcPct val="116500"/>
              </a:lnSpc>
              <a:tabLst>
                <a:tab pos="2536825" algn="l"/>
              </a:tabLst>
            </a:pPr>
            <a:r>
              <a:rPr sz="2200" spc="60" dirty="0">
                <a:latin typeface="Times New Roman"/>
                <a:cs typeface="Times New Roman"/>
              </a:rPr>
              <a:t>The</a:t>
            </a:r>
            <a:r>
              <a:rPr sz="2200" spc="425" dirty="0">
                <a:latin typeface="Times New Roman"/>
                <a:cs typeface="Times New Roman"/>
              </a:rPr>
              <a:t> </a:t>
            </a:r>
            <a:r>
              <a:rPr sz="2200" dirty="0">
                <a:latin typeface="Times New Roman"/>
                <a:cs typeface="Times New Roman"/>
              </a:rPr>
              <a:t>convergence</a:t>
            </a:r>
            <a:r>
              <a:rPr sz="2200" spc="425" dirty="0">
                <a:latin typeface="Times New Roman"/>
                <a:cs typeface="Times New Roman"/>
              </a:rPr>
              <a:t> </a:t>
            </a:r>
            <a:r>
              <a:rPr sz="2200" spc="-25" dirty="0">
                <a:latin typeface="Times New Roman"/>
                <a:cs typeface="Times New Roman"/>
              </a:rPr>
              <a:t>of</a:t>
            </a:r>
            <a:r>
              <a:rPr sz="2200" dirty="0">
                <a:latin typeface="Times New Roman"/>
                <a:cs typeface="Times New Roman"/>
              </a:rPr>
              <a:t>	</a:t>
            </a:r>
            <a:r>
              <a:rPr sz="2200" spc="105" dirty="0">
                <a:latin typeface="Times New Roman"/>
                <a:cs typeface="Times New Roman"/>
              </a:rPr>
              <a:t>both</a:t>
            </a:r>
            <a:r>
              <a:rPr sz="2200" spc="470" dirty="0">
                <a:latin typeface="Times New Roman"/>
                <a:cs typeface="Times New Roman"/>
              </a:rPr>
              <a:t> </a:t>
            </a:r>
            <a:r>
              <a:rPr sz="2200" dirty="0">
                <a:latin typeface="Times New Roman"/>
                <a:cs typeface="Times New Roman"/>
              </a:rPr>
              <a:t>moving</a:t>
            </a:r>
            <a:r>
              <a:rPr sz="2200" spc="475" dirty="0">
                <a:latin typeface="Times New Roman"/>
                <a:cs typeface="Times New Roman"/>
              </a:rPr>
              <a:t> </a:t>
            </a:r>
            <a:r>
              <a:rPr sz="2200" dirty="0">
                <a:latin typeface="Times New Roman"/>
                <a:cs typeface="Times New Roman"/>
              </a:rPr>
              <a:t>averages</a:t>
            </a:r>
            <a:r>
              <a:rPr sz="2200" spc="470" dirty="0">
                <a:latin typeface="Times New Roman"/>
                <a:cs typeface="Times New Roman"/>
              </a:rPr>
              <a:t> </a:t>
            </a:r>
            <a:r>
              <a:rPr sz="2200" spc="65" dirty="0">
                <a:latin typeface="Times New Roman"/>
                <a:cs typeface="Times New Roman"/>
              </a:rPr>
              <a:t>during</a:t>
            </a:r>
            <a:r>
              <a:rPr sz="2200" spc="475" dirty="0">
                <a:latin typeface="Times New Roman"/>
                <a:cs typeface="Times New Roman"/>
              </a:rPr>
              <a:t> </a:t>
            </a:r>
            <a:r>
              <a:rPr sz="2200" dirty="0">
                <a:latin typeface="Times New Roman"/>
                <a:cs typeface="Times New Roman"/>
              </a:rPr>
              <a:t>stable</a:t>
            </a:r>
            <a:r>
              <a:rPr sz="2200" spc="470" dirty="0">
                <a:latin typeface="Times New Roman"/>
                <a:cs typeface="Times New Roman"/>
              </a:rPr>
              <a:t> </a:t>
            </a:r>
            <a:r>
              <a:rPr sz="2200" dirty="0">
                <a:latin typeface="Times New Roman"/>
                <a:cs typeface="Times New Roman"/>
              </a:rPr>
              <a:t>phases</a:t>
            </a:r>
            <a:r>
              <a:rPr sz="2200" spc="475" dirty="0">
                <a:latin typeface="Times New Roman"/>
                <a:cs typeface="Times New Roman"/>
              </a:rPr>
              <a:t> </a:t>
            </a:r>
            <a:r>
              <a:rPr sz="2200" dirty="0">
                <a:latin typeface="Times New Roman"/>
                <a:cs typeface="Times New Roman"/>
              </a:rPr>
              <a:t>reflects</a:t>
            </a:r>
            <a:r>
              <a:rPr sz="2200" spc="470" dirty="0">
                <a:latin typeface="Times New Roman"/>
                <a:cs typeface="Times New Roman"/>
              </a:rPr>
              <a:t> </a:t>
            </a:r>
            <a:r>
              <a:rPr sz="2200" spc="-25" dirty="0">
                <a:latin typeface="Times New Roman"/>
                <a:cs typeface="Times New Roman"/>
              </a:rPr>
              <a:t>low </a:t>
            </a:r>
            <a:r>
              <a:rPr sz="2200" dirty="0">
                <a:latin typeface="Times New Roman"/>
                <a:cs typeface="Times New Roman"/>
              </a:rPr>
              <a:t>volatility</a:t>
            </a:r>
            <a:r>
              <a:rPr sz="2200" spc="250" dirty="0">
                <a:latin typeface="Times New Roman"/>
                <a:cs typeface="Times New Roman"/>
              </a:rPr>
              <a:t> </a:t>
            </a:r>
            <a:r>
              <a:rPr sz="2200" spc="-10" dirty="0">
                <a:latin typeface="Times New Roman"/>
                <a:cs typeface="Times New Roman"/>
              </a:rPr>
              <a:t>periods.</a:t>
            </a:r>
            <a:endParaRPr sz="2200">
              <a:latin typeface="Times New Roman"/>
              <a:cs typeface="Times New Roman"/>
            </a:endParaRPr>
          </a:p>
        </p:txBody>
      </p:sp>
      <p:pic>
        <p:nvPicPr>
          <p:cNvPr id="10" name="object 10"/>
          <p:cNvPicPr/>
          <p:nvPr/>
        </p:nvPicPr>
        <p:blipFill>
          <a:blip r:embed="rId2" cstate="print"/>
          <a:stretch>
            <a:fillRect/>
          </a:stretch>
        </p:blipFill>
        <p:spPr>
          <a:xfrm>
            <a:off x="285749" y="2218666"/>
            <a:ext cx="66675" cy="66674"/>
          </a:xfrm>
          <a:prstGeom prst="rect">
            <a:avLst/>
          </a:prstGeom>
        </p:spPr>
      </p:pic>
      <p:pic>
        <p:nvPicPr>
          <p:cNvPr id="11" name="object 11"/>
          <p:cNvPicPr/>
          <p:nvPr/>
        </p:nvPicPr>
        <p:blipFill>
          <a:blip r:embed="rId2" cstate="print"/>
          <a:stretch>
            <a:fillRect/>
          </a:stretch>
        </p:blipFill>
        <p:spPr>
          <a:xfrm>
            <a:off x="285749" y="2999716"/>
            <a:ext cx="66675" cy="66674"/>
          </a:xfrm>
          <a:prstGeom prst="rect">
            <a:avLst/>
          </a:prstGeom>
        </p:spPr>
      </p:pic>
      <p:pic>
        <p:nvPicPr>
          <p:cNvPr id="12" name="object 12"/>
          <p:cNvPicPr/>
          <p:nvPr/>
        </p:nvPicPr>
        <p:blipFill>
          <a:blip r:embed="rId2" cstate="print"/>
          <a:stretch>
            <a:fillRect/>
          </a:stretch>
        </p:blipFill>
        <p:spPr>
          <a:xfrm>
            <a:off x="285749" y="3780766"/>
            <a:ext cx="66675" cy="6667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64135">
              <a:lnSpc>
                <a:spcPct val="100000"/>
              </a:lnSpc>
              <a:spcBef>
                <a:spcPts val="95"/>
              </a:spcBef>
            </a:pPr>
            <a:r>
              <a:rPr spc="-75" dirty="0"/>
              <a:t>Conclusion</a:t>
            </a:r>
          </a:p>
        </p:txBody>
      </p:sp>
      <p:sp>
        <p:nvSpPr>
          <p:cNvPr id="4" name="object 4"/>
          <p:cNvSpPr txBox="1">
            <a:spLocks noGrp="1"/>
          </p:cNvSpPr>
          <p:nvPr>
            <p:ph type="body" idx="1"/>
          </p:nvPr>
        </p:nvSpPr>
        <p:spPr>
          <a:xfrm>
            <a:off x="425653" y="1644650"/>
            <a:ext cx="8516620" cy="2605265"/>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dirty="0"/>
              <a:t>It enables users to analyze stock trends using technical indicators such as Moving Averages, RSI, and MACD, and evaluate investment risk through volatility-based metrics.</a:t>
            </a:r>
          </a:p>
          <a:p>
            <a:pPr marL="342900" indent="-342900">
              <a:buFont typeface="Arial" panose="020B0604020202020204" pitchFamily="34" charset="0"/>
              <a:buChar char="•"/>
            </a:pPr>
            <a:r>
              <a:rPr lang="en-US" sz="2400" dirty="0"/>
              <a:t>Overall, the project demonstrates how combining analytics and intelligent models can simplify stock market analysis and support informed decision-making.</a:t>
            </a:r>
          </a:p>
          <a:p>
            <a:pPr marL="12700" marR="5080">
              <a:lnSpc>
                <a:spcPct val="113900"/>
              </a:lnSpc>
              <a:spcBef>
                <a:spcPts val="100"/>
              </a:spcBef>
            </a:pPr>
            <a:endParaRPr spc="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860" y="0"/>
            <a:ext cx="4491589" cy="7553324"/>
          </a:xfrm>
          <a:prstGeom prst="rect">
            <a:avLst/>
          </a:prstGeom>
        </p:spPr>
      </p:pic>
      <p:sp>
        <p:nvSpPr>
          <p:cNvPr id="3" name="object 3"/>
          <p:cNvSpPr txBox="1">
            <a:spLocks noGrp="1"/>
          </p:cNvSpPr>
          <p:nvPr>
            <p:ph type="title"/>
          </p:nvPr>
        </p:nvSpPr>
        <p:spPr>
          <a:prstGeom prst="rect">
            <a:avLst/>
          </a:prstGeom>
        </p:spPr>
        <p:txBody>
          <a:bodyPr vert="horz" wrap="square" lIns="0" tIns="12065" rIns="0" bIns="0" rtlCol="0">
            <a:spAutoFit/>
          </a:bodyPr>
          <a:lstStyle/>
          <a:p>
            <a:pPr marL="64135">
              <a:lnSpc>
                <a:spcPct val="100000"/>
              </a:lnSpc>
              <a:spcBef>
                <a:spcPts val="95"/>
              </a:spcBef>
            </a:pPr>
            <a:r>
              <a:rPr spc="-60" dirty="0"/>
              <a:t>References</a:t>
            </a:r>
          </a:p>
        </p:txBody>
      </p:sp>
      <p:sp>
        <p:nvSpPr>
          <p:cNvPr id="4" name="object 4"/>
          <p:cNvSpPr txBox="1"/>
          <p:nvPr/>
        </p:nvSpPr>
        <p:spPr>
          <a:xfrm>
            <a:off x="352032" y="1218284"/>
            <a:ext cx="8983345" cy="5209118"/>
          </a:xfrm>
          <a:prstGeom prst="rect">
            <a:avLst/>
          </a:prstGeom>
        </p:spPr>
        <p:txBody>
          <a:bodyPr vert="horz" wrap="square" lIns="0" tIns="12700" rIns="0" bIns="0" rtlCol="0">
            <a:spAutoFit/>
          </a:bodyPr>
          <a:lstStyle/>
          <a:p>
            <a:pPr marL="344170" marR="5080" indent="-342900">
              <a:lnSpc>
                <a:spcPct val="116500"/>
              </a:lnSpc>
              <a:spcBef>
                <a:spcPts val="100"/>
              </a:spcBef>
              <a:buSzPct val="88636"/>
              <a:buFont typeface="+mj-lt"/>
              <a:buAutoNum type="arabicPeriod"/>
              <a:tabLst>
                <a:tab pos="302895" algn="l"/>
                <a:tab pos="1304925" algn="l"/>
                <a:tab pos="2610485" algn="l"/>
                <a:tab pos="5080635" algn="l"/>
                <a:tab pos="6678930" algn="l"/>
                <a:tab pos="7858125" algn="l"/>
              </a:tabLst>
            </a:pPr>
            <a:r>
              <a:rPr lang="en-IN" dirty="0"/>
              <a:t>Swarna Prabha Jena, Ankit Kumar Yadav, Dhiraj Gupta, </a:t>
            </a:r>
            <a:r>
              <a:rPr lang="en-IN" dirty="0" err="1"/>
              <a:t>Bijay</a:t>
            </a:r>
            <a:r>
              <a:rPr lang="en-IN" dirty="0"/>
              <a:t> Kumar </a:t>
            </a:r>
            <a:r>
              <a:rPr lang="en-IN" dirty="0" err="1"/>
              <a:t>Paitra</a:t>
            </a:r>
            <a:r>
              <a:rPr lang="en-IN" dirty="0"/>
              <a:t>. (2023). “Prediction of Stock Price Using Machine Learning Techniques”. </a:t>
            </a:r>
            <a:r>
              <a:rPr lang="en-IN" i="1" dirty="0"/>
              <a:t>IEEE 2nd International Conference on Industrial Electronics: Developments &amp; Applications</a:t>
            </a:r>
            <a:r>
              <a:rPr lang="en-IN" dirty="0"/>
              <a:t>. Available at: </a:t>
            </a:r>
            <a:r>
              <a:rPr lang="en-IN" dirty="0">
                <a:hlinkClick r:id="rId3"/>
              </a:rPr>
              <a:t>https://www.researchgate.net/publication/375153752_Prediction_of_Stock_Price_Using_Machine_Learning_Techniques</a:t>
            </a:r>
            <a:endParaRPr lang="en-IN" dirty="0"/>
          </a:p>
          <a:p>
            <a:pPr marL="344170" marR="5080" indent="-342900">
              <a:lnSpc>
                <a:spcPct val="116500"/>
              </a:lnSpc>
              <a:spcBef>
                <a:spcPts val="100"/>
              </a:spcBef>
              <a:buSzPct val="88636"/>
              <a:buFont typeface="+mj-lt"/>
              <a:buAutoNum type="arabicPeriod"/>
              <a:tabLst>
                <a:tab pos="302895" algn="l"/>
                <a:tab pos="1304925" algn="l"/>
                <a:tab pos="2610485" algn="l"/>
                <a:tab pos="5080635" algn="l"/>
                <a:tab pos="6678930" algn="l"/>
                <a:tab pos="7858125" algn="l"/>
              </a:tabLst>
            </a:pPr>
            <a:r>
              <a:rPr lang="en-US" dirty="0" err="1"/>
              <a:t>Guanze</a:t>
            </a:r>
            <a:r>
              <a:rPr lang="en-US" dirty="0"/>
              <a:t> Shao. (2023). “Prediction of Stock Prices Based on LSTM Model”. Available at: </a:t>
            </a:r>
            <a:r>
              <a:rPr lang="en-US" dirty="0">
                <a:hlinkClick r:id="rId4"/>
              </a:rPr>
              <a:t>https://www.researchgate.net/publication/370759199_Prediction_of_Stock_Prices_Based_on_the_LSTM_Model</a:t>
            </a:r>
            <a:endParaRPr lang="en-US" dirty="0"/>
          </a:p>
          <a:p>
            <a:pPr marL="344170" marR="5080" indent="-342900">
              <a:lnSpc>
                <a:spcPct val="116500"/>
              </a:lnSpc>
              <a:spcBef>
                <a:spcPts val="100"/>
              </a:spcBef>
              <a:buSzPct val="88636"/>
              <a:buFont typeface="+mj-lt"/>
              <a:buAutoNum type="arabicPeriod"/>
              <a:tabLst>
                <a:tab pos="302895" algn="l"/>
                <a:tab pos="1304925" algn="l"/>
                <a:tab pos="2610485" algn="l"/>
                <a:tab pos="5080635" algn="l"/>
                <a:tab pos="6678930" algn="l"/>
                <a:tab pos="7858125" algn="l"/>
              </a:tabLst>
            </a:pPr>
            <a:r>
              <a:rPr lang="en-US" dirty="0" err="1"/>
              <a:t>Yifei</a:t>
            </a:r>
            <a:r>
              <a:rPr lang="en-US" dirty="0"/>
              <a:t> Zhang. (2023). “Stock Price Prediction using LSTM Model”. Available at: </a:t>
            </a:r>
            <a:r>
              <a:rPr lang="en-US" dirty="0">
                <a:hlinkClick r:id="rId5"/>
              </a:rPr>
              <a:t>https://www.researchgate.net/publication/370219595_Stock_Price_Prediction_using_LSTM_Model</a:t>
            </a:r>
            <a:r>
              <a:rPr lang="en-US" dirty="0"/>
              <a:t> </a:t>
            </a:r>
          </a:p>
          <a:p>
            <a:pPr marL="344170" marR="5080" indent="-342900">
              <a:lnSpc>
                <a:spcPct val="116500"/>
              </a:lnSpc>
              <a:spcBef>
                <a:spcPts val="100"/>
              </a:spcBef>
              <a:buSzPct val="88636"/>
              <a:buFont typeface="+mj-lt"/>
              <a:buAutoNum type="arabicPeriod"/>
              <a:tabLst>
                <a:tab pos="302895" algn="l"/>
                <a:tab pos="1304925" algn="l"/>
                <a:tab pos="2610485" algn="l"/>
                <a:tab pos="5080635" algn="l"/>
                <a:tab pos="6678930" algn="l"/>
                <a:tab pos="7858125" algn="l"/>
              </a:tabLst>
            </a:pPr>
            <a:r>
              <a:rPr lang="en-US" dirty="0" err="1"/>
              <a:t>Nabipour</a:t>
            </a:r>
            <a:r>
              <a:rPr lang="en-US" dirty="0"/>
              <a:t> et al. (2023). “Deep Learning for Stock Market Prediction”. Available at: </a:t>
            </a:r>
            <a:r>
              <a:rPr lang="en-US" dirty="0">
                <a:hlinkClick r:id="rId6"/>
              </a:rPr>
              <a:t>https://www.researchgate.net/publication/343339583_Deep_Learning_for_Stock_Market_Prediction</a:t>
            </a:r>
            <a:endParaRPr dirty="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EE8C62-2C0F-4866-A4A8-37F0D8E0C439}"/>
              </a:ext>
            </a:extLst>
          </p:cNvPr>
          <p:cNvSpPr>
            <a:spLocks noGrp="1"/>
          </p:cNvSpPr>
          <p:nvPr>
            <p:ph type="body" idx="1"/>
          </p:nvPr>
        </p:nvSpPr>
        <p:spPr>
          <a:xfrm>
            <a:off x="783590" y="1187450"/>
            <a:ext cx="8516620" cy="738664"/>
          </a:xfrm>
        </p:spPr>
        <p:txBody>
          <a:bodyPr/>
          <a:lstStyle/>
          <a:p>
            <a:r>
              <a:rPr lang="en-US" sz="2400" dirty="0"/>
              <a:t>5. </a:t>
            </a:r>
            <a:r>
              <a:rPr lang="en-US" sz="2400" dirty="0" err="1"/>
              <a:t>Pardeshi</a:t>
            </a:r>
            <a:r>
              <a:rPr lang="en-US" sz="2400" dirty="0"/>
              <a:t> et al. (2023). “Stock Market Prediction using Hybrid LSTM Model”. Available at: </a:t>
            </a:r>
            <a:r>
              <a:rPr lang="en-US" sz="2400" dirty="0">
                <a:hlinkClick r:id="rId2"/>
              </a:rPr>
              <a:t>https://arxiv.org/abs/2308.04419</a:t>
            </a:r>
            <a:endParaRPr lang="en-IN" sz="2400" dirty="0"/>
          </a:p>
        </p:txBody>
      </p:sp>
    </p:spTree>
    <p:extLst>
      <p:ext uri="{BB962C8B-B14F-4D97-AF65-F5344CB8AC3E}">
        <p14:creationId xmlns:p14="http://schemas.microsoft.com/office/powerpoint/2010/main" val="3660257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2353" y="3368931"/>
            <a:ext cx="3046095" cy="574040"/>
          </a:xfrm>
          <a:prstGeom prst="rect">
            <a:avLst/>
          </a:prstGeom>
        </p:spPr>
        <p:txBody>
          <a:bodyPr vert="horz" wrap="square" lIns="0" tIns="12065" rIns="0" bIns="0" rtlCol="0">
            <a:spAutoFit/>
          </a:bodyPr>
          <a:lstStyle/>
          <a:p>
            <a:pPr marL="12700">
              <a:lnSpc>
                <a:spcPct val="100000"/>
              </a:lnSpc>
              <a:spcBef>
                <a:spcPts val="95"/>
              </a:spcBef>
            </a:pPr>
            <a:r>
              <a:rPr dirty="0">
                <a:latin typeface="Arial"/>
                <a:cs typeface="Arial"/>
              </a:rPr>
              <a:t>Thank</a:t>
            </a:r>
            <a:r>
              <a:rPr spc="-95" dirty="0">
                <a:latin typeface="Arial"/>
                <a:cs typeface="Arial"/>
              </a:rPr>
              <a:t> </a:t>
            </a:r>
            <a:r>
              <a:rPr spc="-10" dirty="0">
                <a:latin typeface="Arial"/>
                <a:cs typeface="Arial"/>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1949</TotalTime>
  <Words>1016</Words>
  <Application>Microsoft Office PowerPoint</Application>
  <PresentationFormat>Custom</PresentationFormat>
  <Paragraphs>81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Times New Roman</vt:lpstr>
      <vt:lpstr>Trebuchet MS</vt:lpstr>
      <vt:lpstr>Office Theme</vt:lpstr>
      <vt:lpstr>Stocks Analytics Dashboard</vt:lpstr>
      <vt:lpstr>Outline</vt:lpstr>
      <vt:lpstr>Introduction</vt:lpstr>
      <vt:lpstr>Problem Statement</vt:lpstr>
      <vt:lpstr>Objectives</vt:lpstr>
      <vt:lpstr>Literature Survey of the existing systems</vt:lpstr>
      <vt:lpstr>Literature Survey of the existing systems</vt:lpstr>
      <vt:lpstr>Limitations of existing systems</vt:lpstr>
      <vt:lpstr>Proposed Solution</vt:lpstr>
      <vt:lpstr>System Design</vt:lpstr>
      <vt:lpstr>Sustainable Development Goals (SDG) mapped</vt:lpstr>
      <vt:lpstr>Technologies</vt:lpstr>
      <vt:lpstr>Methodology</vt:lpstr>
      <vt:lpstr>Implementation</vt:lpstr>
      <vt:lpstr>Implementation</vt:lpstr>
      <vt:lpstr>Implementation</vt:lpstr>
      <vt:lpstr>Implementation</vt:lpstr>
      <vt:lpstr>Result Analysis</vt:lpstr>
      <vt:lpstr>Conclusion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DOC-20260306-WA0009..pdf</dc:title>
  <dc:creator>Laxmi Choudhary</dc:creator>
  <cp:keywords>DAHFgQTTQl8,BAGs8Kp2LSQ,0</cp:keywords>
  <cp:lastModifiedBy>DELL</cp:lastModifiedBy>
  <cp:revision>9</cp:revision>
  <dcterms:created xsi:type="dcterms:W3CDTF">2026-04-17T07:59:16Z</dcterms:created>
  <dcterms:modified xsi:type="dcterms:W3CDTF">2026-04-28T06:36:46Z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2026-04-07T00:00:00Z</vt:filetime>
  </property>
  <property fmtid="{D5CDD505-2E9C-101B-9397-08002B2CF9AE}" pid="3" name="Creator">
    <vt:lpwstr>Canva</vt:lpwstr>
  </property>
  <property fmtid="{D5CDD505-2E9C-101B-9397-08002B2CF9AE}" pid="4" name="LastSaved">
    <vt:filetime>2026-04-17T00:00:00Z</vt:filetime>
  </property>
  <property fmtid="{D5CDD505-2E9C-101B-9397-08002B2CF9AE}" pid="5" name="Producer">
    <vt:lpwstr>Canva</vt:lpwstr>
  </property>
</Properties>
</file>